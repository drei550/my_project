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9"/>
  </p:handoutMasterIdLst>
  <p:sldIdLst>
    <p:sldId id="256" r:id="rId2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59" r:id="rId8"/>
  </p:sldIdLst>
  <p:sldSz cx="12192000" cy="6858000"/>
  <p:notesSz cx="7099300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784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1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7.xml"/><Relationship Id="rId9" Type="http://schemas.openxmlformats.org/officeDocument/2006/relationships/handoutMaster" Target="handoutMasters/handout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D3784"/>
            </a:solidFill>
          </c:spPr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cat>
            <c:strRef>
              <c:f>Sheet1!$A$2:$A$8</c:f>
              <c:strCache>
                <c:ptCount val="7"/>
                <c:pt idx="0">
                  <c:v>Own critical thinking matters</c:v>
                </c:pt>
                <c:pt idx="1">
                  <c:v>Verify AI information</c:v>
                </c:pt>
                <c:pt idx="2">
                  <c:v>Depend on AI instead of trying</c:v>
                </c:pt>
                <c:pt idx="3">
                  <c:v>Use answers I do not understand</c:v>
                </c:pt>
                <c:pt idx="4">
                  <c:v>Accept answers without checking</c:v>
                </c:pt>
                <c:pt idx="5">
                  <c:v>Hard to finish tasks without AI</c:v>
                </c:pt>
                <c:pt idx="6">
                  <c:v>Rely on AI for academic tasks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4.27</c:v>
                </c:pt>
                <c:pt idx="1">
                  <c:v>3.58</c:v>
                </c:pt>
                <c:pt idx="2">
                  <c:v>2.81</c:v>
                </c:pt>
                <c:pt idx="3">
                  <c:v>2.94</c:v>
                </c:pt>
                <c:pt idx="4">
                  <c:v>2.5</c:v>
                </c:pt>
                <c:pt idx="5">
                  <c:v>2.77</c:v>
                </c:pt>
                <c:pt idx="6">
                  <c:v>2.94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  <a:latin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5B6B"/>
            </a:solidFill>
          </a:ln>
        </c:spPr>
        <c:txPr>
          <a:bodyPr/>
          <a:lstStyle/>
          <a:p>
            <a:pPr>
              <a:defRPr sz="1300"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D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Century Gothi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D3784"/>
            </a:solidFill>
          </c:spPr>
          <c:dPt>
            <c:idx val="3"/>
            <c:spPr>
              <a:solidFill>
                <a:srgbClr val="FF0000"/>
              </a:solidFill>
            </c:spPr>
          </c:dPt>
          <c:cat>
            <c:strRef>
              <c:f>Sheet1!$A$2:$A$5</c:f>
              <c:strCache>
                <c:ptCount val="4"/>
                <c:pt idx="0">
                  <c:v>Story and situations</c:v>
                </c:pt>
                <c:pt idx="1">
                  <c:v>Graphics and backgrounds</c:v>
                </c:pt>
                <c:pt idx="2">
                  <c:v>Characters</c:v>
                </c:pt>
                <c:pt idx="3">
                  <c:v>Mini games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3.92</c:v>
                </c:pt>
                <c:pt idx="1">
                  <c:v>4.02</c:v>
                </c:pt>
                <c:pt idx="2">
                  <c:v>4.03</c:v>
                </c:pt>
                <c:pt idx="3">
                  <c:v>4.33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  <a:latin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5B6B"/>
            </a:solidFill>
          </a:ln>
        </c:spPr>
        <c:txPr>
          <a:bodyPr/>
          <a:lstStyle/>
          <a:p>
            <a:pPr>
              <a:defRPr sz="1300"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D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Century Gothi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D3784"/>
            </a:solidFill>
          </c:spPr>
          <c:dPt>
            <c:idx val="4"/>
            <c:spPr>
              <a:solidFill>
                <a:srgbClr val="2E7D32"/>
              </a:solidFill>
            </c:spPr>
          </c:dPt>
          <c:dPt>
            <c:idx val="0"/>
            <c:spPr>
              <a:solidFill>
                <a:srgbClr val="B8670A"/>
              </a:solidFill>
            </c:spPr>
          </c:dPt>
          <c:cat>
            <c:strRef>
              <c:f>Sheet1!$A$2:$A$6</c:f>
              <c:strCache>
                <c:ptCount val="5"/>
                <c:pt idx="0">
                  <c:v>Perceived Usefulness</c:v>
                </c:pt>
                <c:pt idx="1">
                  <c:v>Behavioral Intention</c:v>
                </c:pt>
                <c:pt idx="2">
                  <c:v>Attitude Toward Using</c:v>
                </c:pt>
                <c:pt idx="3">
                  <c:v>Enjoyment and Engagement</c:v>
                </c:pt>
                <c:pt idx="4">
                  <c:v>Perceived Ease of Use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3.44</c:v>
                </c:pt>
                <c:pt idx="1">
                  <c:v>3.49</c:v>
                </c:pt>
                <c:pt idx="2">
                  <c:v>3.76</c:v>
                </c:pt>
                <c:pt idx="3">
                  <c:v>3.82</c:v>
                </c:pt>
                <c:pt idx="4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  <a:latin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5B6B"/>
            </a:solidFill>
          </a:ln>
        </c:spPr>
        <c:txPr>
          <a:bodyPr/>
          <a:lstStyle/>
          <a:p>
            <a:pPr>
              <a:defRPr sz="1300"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D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Century Gothi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D3784"/>
            </a:solidFill>
          </c:spPr>
          <c:cat>
            <c:strRef>
              <c:f>Sheet1!$A$2:$A$6</c:f>
              <c:strCache>
                <c:ptCount val="5"/>
                <c:pt idx="0">
                  <c:v>Aware of risks of AI dependency</c:v>
                </c:pt>
                <c:pt idx="1">
                  <c:v>Achieved its educational purpose</c:v>
                </c:pt>
                <c:pt idx="2">
                  <c:v>Can help other students reflect</c:v>
                </c:pt>
                <c:pt idx="3">
                  <c:v>Understanding my own work matters</c:v>
                </c:pt>
                <c:pt idx="4">
                  <c:v>Think critically about AI use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3.44</c:v>
                </c:pt>
                <c:pt idx="1">
                  <c:v>3.63</c:v>
                </c:pt>
                <c:pt idx="2">
                  <c:v>3.67</c:v>
                </c:pt>
                <c:pt idx="3">
                  <c:v>3.69</c:v>
                </c:pt>
                <c:pt idx="4">
                  <c:v>3.73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  <a:latin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5B6B"/>
            </a:solidFill>
          </a:ln>
        </c:spPr>
        <c:txPr>
          <a:bodyPr/>
          <a:lstStyle/>
          <a:p>
            <a:pPr>
              <a:defRPr sz="1300"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D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Century Gothi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6D39CF-F4D5-432B-8863-3BE81A2AF4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F427C-01D3-4577-B4FE-6702B67A54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E86CF3-4272-448E-BAC2-57863C7BED56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4817C-55CA-47D1-A5FB-9490F9D14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7585-2C90-4D32-B769-0748F2D03F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938290E-365B-478C-A97B-CD9B8D7C77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9769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0755-587E-47DA-92FF-F00102A0B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C411E-25A5-4F45-8CCC-9D961DD95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6A4F-F284-4BF9-BD49-F1E17B2A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FA87-D136-4671-8AE2-1D76C20D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99822-A441-48FB-B060-E67BCB53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4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540B-DB02-423F-B752-764F38E2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6B4C-4C83-4958-A38B-F3A66FB6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1999-C821-4819-A3FD-AA8661A1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2EFAD-FD0F-469E-B1D5-1D56177B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A6CE-4B7D-463A-A8BD-AA8F7482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878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18BC-5E60-4358-9A33-8F58FA62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685BE-004D-4A39-89EB-BFB604A8B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CB77-DDF5-4166-92C6-E9ECE958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B714-E9BA-4D5A-85AB-60FB201C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C078-A3E9-4392-8524-1E982A2E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589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6C7C-768E-450C-9248-054CE6F3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B300-01A6-4D09-9C94-EDDEA9D64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3D27E-3F69-4127-B8F7-FAC644713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89022-5EB8-4588-8596-CDCA9946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C4A74-818A-4137-AC45-21B41B5D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7CE09-F974-4F9D-88E6-3D792090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757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53D3-AD80-4DDE-951D-128ADA9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27A65-376A-4A63-B09B-7B370DD6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F9241-01C1-4D54-AFA3-1AFCEE9A5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601AA-2DB3-4A57-8327-5E7950EEC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9D78D-5F3E-49DC-95DE-7DF0D2EA3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F94E3-BD23-4B5C-9ABB-3FA8A4A9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A83CE-C7C1-4639-95D2-477C95B6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6F0CF6-7073-4154-B0CF-3E49F9E0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039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FD46-99F0-4D75-A724-9AA3E05A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24B3B-A3C9-4F21-A26F-D893BB36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B8E23-7F6A-43C0-A4D5-311246A9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4A42-7544-43B6-AC30-2E16C464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144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F2B56-9FE7-4F4D-A9AB-96D1C486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BC8A1-555F-4224-AC7E-CD1A12C8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4D841-7016-4B86-BF78-D3FD2B17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936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2502-8F86-4C85-9748-44E8E180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9875-3E7F-47D7-944B-03A7F5A5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D6588-0EA3-4A1A-8DAE-7B8325768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3DAA8-44A5-4707-8AE0-81D5F4A1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9885-2FEA-43D8-AEFD-5CDE1A3C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057BB-0A7C-463C-A0BF-B368E894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594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A7B9-B1C2-4F1F-8737-1A77B712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C0D43-DDC3-4D9B-A0E5-D804F2602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C059-C767-4C21-8455-357BCBA5C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FA01A-BB09-467D-B813-6F9D2F52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6AB7F-A079-47C9-B834-8D369BB1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0DDB2-A5D9-4289-9B09-5C56C488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605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F082-5870-4FD3-A44E-C418C9B7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45883-C61D-46B2-844D-14383CE47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34735-51F1-49B6-8A99-9D31B40A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1E732-A263-4A2C-A8C7-1B8AB66A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BB54-8CFA-49E4-9007-2C874556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881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27B3-7056-4345-B61A-CE23D1953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B209-22CA-4FE6-AC42-60BCFC268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89D2-398B-4F3D-A510-04B62EEA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5E38-7121-4EA9-BB5B-F44D829E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33936-53EE-4F05-94D7-E85379A7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20363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54C4-85AC-4BBF-A12D-3E96C7F7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523D8-43C1-41DC-86FD-B11F95C81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93823-1649-4DC5-B897-A7F1322E5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18821-5B80-49DE-83C9-AB4B8D8DA84C}" type="datetimeFigureOut">
              <a:rPr lang="en-PH" smtClean="0"/>
              <a:t>02/12/2024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93376-6E35-49F3-871B-59B4F1531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F157-0BBA-4E0F-B2EB-8F806E71C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099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19DFEE-3698-423B-8D70-61A39DDE9D74}"/>
              </a:ext>
            </a:extLst>
          </p:cNvPr>
          <p:cNvSpPr txBox="1"/>
          <p:nvPr/>
        </p:nvSpPr>
        <p:spPr>
          <a:xfrm>
            <a:off x="1851297" y="1935458"/>
            <a:ext cx="988422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CTRL + THINK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8C4F7B-B20B-4ECF-AA56-3C03957C8E4F}"/>
              </a:ext>
            </a:extLst>
          </p:cNvPr>
          <p:cNvSpPr txBox="1"/>
          <p:nvPr/>
        </p:nvSpPr>
        <p:spPr>
          <a:xfrm>
            <a:off x="1851297" y="2900000"/>
            <a:ext cx="98842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1800" i="1" dirty="0">
                <a:latin typeface="Century Gothic" panose="020B0502020202020204" pitchFamily="34" charset="0"/>
                <a:cs typeface="Arial" panose="020B0604020202020204" pitchFamily="34" charset="0"/>
              </a:rPr>
              <a:t>An Interactive Visual Novel Game Exploring AI Dependency Among College Students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A6A98-3614-479D-B0F0-4CF2915C03E2}"/>
              </a:ext>
            </a:extLst>
          </p:cNvPr>
          <p:cNvSpPr txBox="1"/>
          <p:nvPr/>
        </p:nvSpPr>
        <p:spPr>
          <a:xfrm>
            <a:off x="1851297" y="4537821"/>
            <a:ext cx="4740003" cy="12311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PH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Amarela, Caldeo and Añez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BSIT, Animation and Motion Graphics · AMG 4A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College of Computer Studies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Laguna State Polytechnic University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Los Baños Campus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41ACA-DAFD-4950-BDDA-7A48C26224DD}"/>
              </a:ext>
            </a:extLst>
          </p:cNvPr>
          <p:cNvSpPr txBox="1"/>
          <p:nvPr/>
        </p:nvSpPr>
        <p:spPr>
          <a:xfrm>
            <a:off x="6946899" y="4537821"/>
            <a:ext cx="441851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PH" sz="1300" dirty="0">
                <a:latin typeface="Century Gothic" panose="020B0502020202020204" pitchFamily="34" charset="0"/>
                <a:cs typeface="Arial" panose="020B0604020202020204" pitchFamily="34" charset="0"/>
              </a:rPr>
              <a:t>October 20, 2026</a:t>
            </a:r>
          </a:p>
          <a:p>
            <a:r>
              <a:rPr lang="en-PH" sz="1300" dirty="0">
                <a:latin typeface="Century Gothic" panose="020B0502020202020204" pitchFamily="34" charset="0"/>
                <a:cs typeface="Arial" panose="020B0604020202020204" pitchFamily="34" charset="0"/>
              </a:rPr>
              <a:t>Capstone Defense · Adviser: Jonalyn Joy Labayne</a:t>
            </a:r>
          </a:p>
        </p:txBody>
      </p:sp>
    </p:spTree>
    <p:extLst>
      <p:ext uri="{BB962C8B-B14F-4D97-AF65-F5344CB8AC3E}">
        <p14:creationId xmlns:p14="http://schemas.microsoft.com/office/powerpoint/2010/main" val="76279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3108960"/>
            <a:ext cx="4206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26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Questions?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John Lorence B. Amarela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Andrei H. Caldeo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Christian B. Añez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Adviser: Jonalyn Joy Labayne</a:t>
            </a:r>
          </a:p>
        </p:txBody>
      </p:sp>
      <p:pic>
        <p:nvPicPr>
          <p:cNvPr id="4" name="Picture 3" descr="st_la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108960"/>
            <a:ext cx="4480560" cy="251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6579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CHAPTER 1 -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326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8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Problem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ChatGPT and Google Gemini are free, and students use them to brainstorm, summarize, write and solve problems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Over-reliance leads to cognitive offloading: critical thinking, creativity and analysis are not fully developed</a:t>
            </a:r>
          </a:p>
          <a:p>
            <a:pPr>
              <a:spcBef>
                <a:spcPts val="1400"/>
              </a:spcBef>
            </a:pPr>
            <a:r>
              <a:rPr sz="18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Gap Identified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Most school responses limit or detect AI use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Few tools help students see how harmful over-reliance can be, especially Filipino college students</a:t>
            </a:r>
          </a:p>
          <a:p>
            <a:pPr>
              <a:spcBef>
                <a:spcPts val="1400"/>
              </a:spcBef>
            </a:pPr>
            <a:r>
              <a:rPr sz="18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Proposed Solution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Ctrl + Think, an interactive visual novel built with Ren’Py for PC and Android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Students feel the consequences of AI dependency in a safe, simulated story before it affects real grades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326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8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General Objective</a:t>
            </a:r>
          </a:p>
          <a:p>
            <a:pPr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To develop an interactive visual novel that highlights AI dependency among college students.</a:t>
            </a:r>
          </a:p>
          <a:p>
            <a:pPr>
              <a:spcBef>
                <a:spcPts val="1600"/>
              </a:spcBef>
            </a:pPr>
            <a:r>
              <a:rPr sz="18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Specific Objectives</a:t>
            </a:r>
          </a:p>
          <a:p>
            <a:pPr marL="274320" indent="-274320">
              <a:spcBef>
                <a:spcPts val="600"/>
              </a:spcBef>
              <a:buChar char="•"/>
            </a:pPr>
            <a:r>
              <a:rPr sz="17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Develop:</a:t>
            </a: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 Create a visual novel that shows the process and impact of relying on AI through story branches, character interactions, player decisions and 2D graphics.</a:t>
            </a:r>
          </a:p>
          <a:p>
            <a:pPr marL="274320" indent="-274320">
              <a:spcBef>
                <a:spcPts val="600"/>
              </a:spcBef>
              <a:buChar char="•"/>
            </a:pPr>
            <a:r>
              <a:rPr sz="17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Reflect:</a:t>
            </a: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 Assess whether the game supports self-reflection and responsible AI use, balancing AI assistance with the student’s own thinking.</a:t>
            </a:r>
          </a:p>
          <a:p>
            <a:pPr marL="274320" indent="-274320">
              <a:spcBef>
                <a:spcPts val="600"/>
              </a:spcBef>
              <a:buChar char="•"/>
            </a:pPr>
            <a:r>
              <a:rPr sz="17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Evaluate:</a:t>
            </a: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 Assess usability and learning efficacy using the Technology Acceptance Model (TAM).</a:t>
            </a:r>
          </a:p>
          <a:p>
            <a:pPr>
              <a:spcBef>
                <a:spcPts val="1600"/>
              </a:spcBef>
            </a:pPr>
            <a:r>
              <a:rPr sz="13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Aligned with SDG 4 (Quality Education) and SDG 9 (Industry, Innovation and Infrastructure).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5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CHAPTER 2 - CONCEPTUAL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517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External variables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System: story, characters, graphics, mini games
User: profile, AI use, dependency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60020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Perceived Usefulness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Does it help me reflect?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9260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Perceived Ease of Use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Is it free of effort?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2519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Enjoyment and Engagement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Added for a 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65176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Attitude Toward Using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Feeling about the game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65176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Behavioral Intention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Play again, recommend, accept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9000" y="3429000"/>
            <a:ext cx="548640" cy="2743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46520" y="3429000"/>
            <a:ext cx="548640" cy="2743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823960" y="3429000"/>
            <a:ext cx="365760" cy="2743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235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Adapted from Davis (1989) and Davis et al. (1992). The Technology Acceptance Model is extended with enjoyment and engagement because Ctrl + Think is a game.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THE GAME: CTRL + THINK</a:t>
            </a:r>
          </a:p>
        </p:txBody>
      </p:sp>
      <p:pic>
        <p:nvPicPr>
          <p:cNvPr id="3" name="Picture 2" descr="st_tr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5669280" cy="31845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617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1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Chapter 1, Morning Chaos (screenshot from the game)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17320"/>
            <a:ext cx="4023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What it is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 2D Ren’Py visual novel. The player is a college student who keeps deciding whether to rely on AI or on personal effort.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0000"/>
                </a:solidFill>
                <a:latin typeface="Century Gothic"/>
                <a:ea typeface="Century Gothic"/>
                <a:cs typeface="Century Gothic"/>
              </a:rPr>
              <a:t>6  </a:t>
            </a:r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chapters plus a Free Day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0000"/>
                </a:solidFill>
                <a:latin typeface="Century Gothic"/>
                <a:ea typeface="Century Gothic"/>
                <a:cs typeface="Century Gothic"/>
              </a:rPr>
              <a:t>3  </a:t>
            </a:r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routes and endings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0000"/>
                </a:solidFill>
                <a:latin typeface="Century Gothic"/>
                <a:ea typeface="Century Gothic"/>
                <a:cs typeface="Century Gothic"/>
              </a:rPr>
              <a:t>10+  </a:t>
            </a:r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mini games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0000"/>
                </a:solidFill>
                <a:latin typeface="Century Gothic"/>
                <a:ea typeface="Century Gothic"/>
                <a:cs typeface="Century Gothic"/>
              </a:rPr>
              <a:t>2  </a:t>
            </a:r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platforms: PC and Android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Story dialogue is in Taglish.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492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4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Chapters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1 Morning Chaos · 2 The Blank Page · 3 Process Over Answers · 4 Whose Work Is It? · 5 The Final Challenge · 6 What We Carry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ROUTES AND ENDINGS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87552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2807208"/>
                <a:gridCol w="2807208"/>
                <a:gridCol w="279806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Route A · Balanced</a:t>
                      </a:r>
                    </a:p>
                  </a:txBody>
                  <a:tcPr anchor="ctr" marL="91440" marR="9144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Route B · Moderate</a:t>
                      </a:r>
                    </a:p>
                  </a:txBody>
                  <a:tcPr anchor="ctr" marL="91440" marR="91440">
                    <a:solidFill>
                      <a:srgbClr val="B867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Route C · High dependence</a:t>
                      </a:r>
                    </a:p>
                  </a:txBody>
                  <a:tcPr anchor="ctr" marL="91440" marR="91440">
                    <a:solidFill>
                      <a:srgbClr val="C039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D3784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Hidden score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0–33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34–66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67–100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D3784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Behavior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Thinks first and uses AI only as support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Mixes own effort with frequent AI shortcuts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Lets AI do most of the thinking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D3784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Outcome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Strong grades and real understanding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Passes, but with shaky confidence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Fast results, weak understanding</a:t>
                      </a:r>
                    </a:p>
                  </a:txBody>
                  <a:tcPr anchor="ctr" marL="91440" marR="91440">
                    <a:solidFill>
                      <a:srgbClr val="E8EC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D3784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Message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AI is a tool, not a replacement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Leaning on AI can slowly replace your own skills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Over-reliance costs learning and originality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440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4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A hidden dependency score rises with every AI shortcut and decides the ending. The player never sees the number while playing.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MINI GAMES WITH AN AI SHORTCUT</a:t>
            </a:r>
          </a:p>
        </p:txBody>
      </p:sp>
      <p:pic>
        <p:nvPicPr>
          <p:cNvPr id="3" name="Picture 2" descr="mg_hidd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3108960" cy="1746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321183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Morning Chaos</a:t>
            </a:r>
          </a:p>
        </p:txBody>
      </p:sp>
      <p:pic>
        <p:nvPicPr>
          <p:cNvPr id="5" name="Picture 4" descr="mg_id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1463040"/>
            <a:ext cx="3108960" cy="1746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80559" y="321183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Idea Match</a:t>
            </a:r>
          </a:p>
        </p:txBody>
      </p:sp>
      <p:pic>
        <p:nvPicPr>
          <p:cNvPr id="7" name="Picture 6" descr="mg_patter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63040"/>
            <a:ext cx="3108960" cy="1746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321183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Pattern Logic</a:t>
            </a:r>
          </a:p>
        </p:txBody>
      </p:sp>
      <p:pic>
        <p:nvPicPr>
          <p:cNvPr id="9" name="Picture 8" descr="mg_cat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806189"/>
            <a:ext cx="3108960" cy="1746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5554979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Catch the Errors</a:t>
            </a:r>
          </a:p>
        </p:txBody>
      </p:sp>
      <p:pic>
        <p:nvPicPr>
          <p:cNvPr id="11" name="Picture 10" descr="mg_foc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59" y="3806189"/>
            <a:ext cx="3108960" cy="1746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59" y="5554979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Focus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806189"/>
            <a:ext cx="3108960" cy="1748789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Every game offers a shortcut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AI Hint, Auto-Solve, Run AI Checker or Ask AI. It is easy to take, and it raises the hidden dependency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CHAPTER 3 - RESEARCH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48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college student respondents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39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rated statements in 5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5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point Likert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8755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Design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Descriptive, quantitative survey answered through Google Forms after respondents played the game; data privacy consent included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Analysis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7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Frequency and percentage for the profile, weighted mean and standard deviation per statement, Cronbach’s alpha for reliability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Interpretation scale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4.21–5.00 Strongly Agree · 3.41–4.20 Agree · 2.61–3.40 Neutral · 1.81–2.60 Disagree · 1.00–1.80 Strongly Disagree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LEVEL OF AI USAGE AND DEPENDENCY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3.12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Neutral (moderate)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DDE4F7"/>
                </a:solidFill>
                <a:latin typeface="Century Gothic"/>
                <a:ea typeface="Century Gothic"/>
                <a:cs typeface="Century Gothic"/>
              </a:rPr>
              <a:t>SD = 0.85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0" y="1280160"/>
          <a:ext cx="7498079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365760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2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Respondents neither agreed nor disagreed that they rely heavily on AI. They strongly agreed that critical thinking matters (4.27) and agreed that they verify AI information (3.58).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53212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2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Every item except the last had SD above 1.00, so dependency varied widely. The last two items describe responsible use, so read the composite with that in mind.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95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SYSTEM CHARACTERISTICS OF THE GAME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4.07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Agree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DDE4F7"/>
                </a:solidFill>
                <a:latin typeface="Century Gothic"/>
                <a:ea typeface="Century Gothic"/>
                <a:cs typeface="Century Gothic"/>
              </a:rPr>
              <a:t>Highest-rated part, SD = 0.57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0" y="1280160"/>
          <a:ext cx="7498079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0" y="42976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4.38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Character designs suit their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976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4.35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Mini games relevant to the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42976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 w="19050">
            <a:solidFill>
              <a:srgbClr val="1D3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6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4.31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Mini game difficulty appropriate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468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2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Three items reached Strongly Agree. The lowest item, believable character actions, was still Agree (3.69).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5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TECHNOLOGY ACCEPTANCE MODEL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3.73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Overall mean: Agree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DDE4F7"/>
                </a:solidFill>
                <a:latin typeface="Century Gothic"/>
                <a:ea typeface="Century Gothic"/>
                <a:cs typeface="Century Gothic"/>
              </a:rPr>
              <a:t>High acceptance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0" y="1280160"/>
          <a:ext cx="7498079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365760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2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Easy to use and enjoyable, but usefulness scored lowest. Recognizing the importance of independent thinking was the lowest single item (3.25, Neutral).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93776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200" b="0" i="0">
                <a:solidFill>
                  <a:srgbClr val="5B5B6B"/>
                </a:solidFill>
                <a:latin typeface="Century Gothic"/>
                <a:ea typeface="Century Gothic"/>
                <a:cs typeface="Century Gothic"/>
              </a:rPr>
              <a:t>Reliability: Cronbach’s alpha of all 39 statements = 0.873 (Good). Enjoyment (0.637), Usefulness (0.556) and Attitude (0.434) were lower because they have only 3–4 items, so read them with caution.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OVERALL LEARNING AND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1D3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3.63</a:t>
            </a:r>
          </a:p>
          <a:p>
            <a:pPr algn="ctr">
              <a:spcBef>
                <a:spcPts val="300"/>
              </a:spcBef>
            </a:pPr>
            <a:r>
              <a:rPr sz="15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Agree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DDE4F7"/>
                </a:solidFill>
                <a:latin typeface="Century Gothic"/>
                <a:ea typeface="Century Gothic"/>
                <a:cs typeface="Century Gothic"/>
              </a:rPr>
              <a:t>SD = 0.69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0" y="1280160"/>
          <a:ext cx="7498079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93776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9050">
            <a:solidFill>
              <a:srgbClr val="B86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Keep in mind: these are self-reported perceptions after one play. They show what students felt, not a measured change in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D3784"/>
                </a:solidFill>
                <a:latin typeface="Century Gothic"/>
                <a:ea typeface="Century Gothic"/>
                <a:cs typeface="Century Gothic"/>
              </a:rPr>
              <a:t>CONCLUSION AND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92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2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Conclusion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Ctrl + Think shows the process and effects of AI dependency through branching routes, characters and decisions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Respondents agreed it supports self-reflection (3.63) and has high acceptance (3.73), with Good reliability (0.873)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It is an acceptable, usable educational game and a starting point for balanced, responsible AI use in learning</a:t>
            </a:r>
          </a:p>
          <a:p>
            <a:pPr>
              <a:spcBef>
                <a:spcPts val="2200"/>
              </a:spcBef>
            </a:pPr>
            <a:r>
              <a:rPr sz="2200" b="1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Recommendation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Students: play it and verify AI answers before using them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Teachers and schools: use it in discussions on academic integrity and responsible AI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Developers: make the story more gripping, stress independent thinking, add routes and endings</a:t>
            </a:r>
          </a:p>
          <a:p>
            <a:pPr marL="274320" indent="-274320">
              <a:spcBef>
                <a:spcPts val="300"/>
              </a:spcBef>
              <a:buChar char="•"/>
            </a:pPr>
            <a:r>
              <a:rPr sz="1800" b="0" i="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Future researchers: larger sample, pretest and posttest, and revise the low-reliability parts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313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Century Gothic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69</cp:revision>
  <cp:lastPrinted>2024-11-08T05:53:13Z</cp:lastPrinted>
  <dcterms:created xsi:type="dcterms:W3CDTF">2024-11-07T02:19:29Z</dcterms:created>
  <dcterms:modified xsi:type="dcterms:W3CDTF">2024-12-02T05:48:56Z</dcterms:modified>
</cp:coreProperties>
</file>