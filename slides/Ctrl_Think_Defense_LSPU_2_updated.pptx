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handoutMasterIdLst>
    <p:handoutMasterId r:id="rId9"/>
  </p:handoutMasterIdLst>
  <p:sldIdLst>
    <p:sldId id="256" r:id="rId2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59" r:id="rId8"/>
  </p:sldIdLst>
  <p:sldSz cx="12192000" cy="6858000"/>
  <p:notesSz cx="7099300" cy="10234613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Century Gothic" panose="020B0502020202020204" pitchFamily="34" charset="0"/>
      <p:regular r:id="rId16"/>
      <p:bold r:id="rId17"/>
      <p:italic r:id="rId18"/>
      <p:boldItalic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3784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1812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852" y="1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7.xml"/><Relationship Id="rId9" Type="http://schemas.openxmlformats.org/officeDocument/2006/relationships/handoutMaster" Target="handoutMasters/handout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font" Target="fonts/font5.fntdata"/><Relationship Id="rId15" Type="http://schemas.openxmlformats.org/officeDocument/2006/relationships/font" Target="fonts/font6.fntdata"/><Relationship Id="rId16" Type="http://schemas.openxmlformats.org/officeDocument/2006/relationships/font" Target="fonts/font7.fntdata"/><Relationship Id="rId17" Type="http://schemas.openxmlformats.org/officeDocument/2006/relationships/font" Target="fonts/font8.fntdata"/><Relationship Id="rId18" Type="http://schemas.openxmlformats.org/officeDocument/2006/relationships/font" Target="fonts/font9.fntdata"/><Relationship Id="rId19" Type="http://schemas.openxmlformats.org/officeDocument/2006/relationships/font" Target="fonts/font10.fnt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Mean</c:v>
                </c:pt>
              </c:strCache>
            </c:strRef>
          </c:tx>
          <c:spPr>
            <a:solidFill>
              <a:srgbClr val="1D3784"/>
            </a:solidFill>
          </c:spPr>
          <c:dPt>
            <c:idx val="0"/>
            <c:spPr>
              <a:solidFill>
                <a:srgbClr val="2E7D32"/>
              </a:solidFill>
            </c:spPr>
          </c:dPt>
          <c:dPt>
            <c:idx val="1"/>
            <c:spPr>
              <a:solidFill>
                <a:srgbClr val="2E7D32"/>
              </a:solidFill>
            </c:spPr>
          </c:dPt>
          <c:cat>
            <c:strRef>
              <c:f>Sheet1!$A$2:$A$8</c:f>
              <c:strCache>
                <c:ptCount val="7"/>
                <c:pt idx="0">
                  <c:v>Own critical thinking matters</c:v>
                </c:pt>
                <c:pt idx="1">
                  <c:v>Verify AI information</c:v>
                </c:pt>
                <c:pt idx="2">
                  <c:v>Depend on AI instead of trying</c:v>
                </c:pt>
                <c:pt idx="3">
                  <c:v>Use answers I do not understand</c:v>
                </c:pt>
                <c:pt idx="4">
                  <c:v>Accept answers without checking</c:v>
                </c:pt>
                <c:pt idx="5">
                  <c:v>Hard to finish tasks without AI</c:v>
                </c:pt>
                <c:pt idx="6">
                  <c:v>Rely on AI for academic tasks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4.27</c:v>
                </c:pt>
                <c:pt idx="1">
                  <c:v>3.58</c:v>
                </c:pt>
                <c:pt idx="2">
                  <c:v>2.81</c:v>
                </c:pt>
                <c:pt idx="3">
                  <c:v>2.94</c:v>
                </c:pt>
                <c:pt idx="4">
                  <c:v>2.5</c:v>
                </c:pt>
                <c:pt idx="5">
                  <c:v>2.77</c:v>
                </c:pt>
                <c:pt idx="6">
                  <c:v>2.94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300" b="1">
                  <a:solidFill>
                    <a:srgbClr val="1A1A1A"/>
                  </a:solidFill>
                  <a:latin typeface="Century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B5B6B"/>
            </a:solidFill>
          </a:ln>
        </c:spPr>
        <c:txPr>
          <a:bodyPr/>
          <a:lstStyle/>
          <a:p>
            <a:pPr>
              <a:defRPr sz="1300">
                <a:latin typeface="Century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Gridlines>
          <c:spPr>
            <a:ln>
              <a:solidFill>
                <a:srgbClr val="D9DD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latin typeface="Century Gothic"/>
              </a:defRPr>
            </a:pPr>
          </a:p>
        </c:txPr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Mean</c:v>
                </c:pt>
              </c:strCache>
            </c:strRef>
          </c:tx>
          <c:spPr>
            <a:solidFill>
              <a:srgbClr val="1D3784"/>
            </a:solidFill>
          </c:spPr>
          <c:dPt>
            <c:idx val="3"/>
            <c:spPr>
              <a:solidFill>
                <a:srgbClr val="FF0000"/>
              </a:solidFill>
            </c:spPr>
          </c:dPt>
          <c:cat>
            <c:strRef>
              <c:f>Sheet1!$A$2:$A$5</c:f>
              <c:strCache>
                <c:ptCount val="4"/>
                <c:pt idx="0">
                  <c:v>Story and situations</c:v>
                </c:pt>
                <c:pt idx="1">
                  <c:v>Graphics and backgrounds</c:v>
                </c:pt>
                <c:pt idx="2">
                  <c:v>Characters</c:v>
                </c:pt>
                <c:pt idx="3">
                  <c:v>Mini games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3.92</c:v>
                </c:pt>
                <c:pt idx="1">
                  <c:v>4.02</c:v>
                </c:pt>
                <c:pt idx="2">
                  <c:v>4.03</c:v>
                </c:pt>
                <c:pt idx="3">
                  <c:v>4.33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300" b="1">
                  <a:solidFill>
                    <a:srgbClr val="1A1A1A"/>
                  </a:solidFill>
                  <a:latin typeface="Century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B5B6B"/>
            </a:solidFill>
          </a:ln>
        </c:spPr>
        <c:txPr>
          <a:bodyPr/>
          <a:lstStyle/>
          <a:p>
            <a:pPr>
              <a:defRPr sz="1300">
                <a:latin typeface="Century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Gridlines>
          <c:spPr>
            <a:ln>
              <a:solidFill>
                <a:srgbClr val="D9DD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latin typeface="Century Gothic"/>
              </a:defRPr>
            </a:pPr>
          </a:p>
        </c:txPr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Mean</c:v>
                </c:pt>
              </c:strCache>
            </c:strRef>
          </c:tx>
          <c:spPr>
            <a:solidFill>
              <a:srgbClr val="1D3784"/>
            </a:solidFill>
          </c:spPr>
          <c:dPt>
            <c:idx val="4"/>
            <c:spPr>
              <a:solidFill>
                <a:srgbClr val="2E7D32"/>
              </a:solidFill>
            </c:spPr>
          </c:dPt>
          <c:dPt>
            <c:idx val="0"/>
            <c:spPr>
              <a:solidFill>
                <a:srgbClr val="B8670A"/>
              </a:solidFill>
            </c:spPr>
          </c:dPt>
          <c:cat>
            <c:strRef>
              <c:f>Sheet1!$A$2:$A$6</c:f>
              <c:strCache>
                <c:ptCount val="5"/>
                <c:pt idx="0">
                  <c:v>Perceived Usefulness</c:v>
                </c:pt>
                <c:pt idx="1">
                  <c:v>Behavioral Intention</c:v>
                </c:pt>
                <c:pt idx="2">
                  <c:v>Attitude Toward Using</c:v>
                </c:pt>
                <c:pt idx="3">
                  <c:v>Enjoyment and Engagement</c:v>
                </c:pt>
                <c:pt idx="4">
                  <c:v>Perceived Ease of Use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3.44</c:v>
                </c:pt>
                <c:pt idx="1">
                  <c:v>3.49</c:v>
                </c:pt>
                <c:pt idx="2">
                  <c:v>3.76</c:v>
                </c:pt>
                <c:pt idx="3">
                  <c:v>3.82</c:v>
                </c:pt>
                <c:pt idx="4">
                  <c:v>4.11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300" b="1">
                  <a:solidFill>
                    <a:srgbClr val="1A1A1A"/>
                  </a:solidFill>
                  <a:latin typeface="Century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B5B6B"/>
            </a:solidFill>
          </a:ln>
        </c:spPr>
        <c:txPr>
          <a:bodyPr/>
          <a:lstStyle/>
          <a:p>
            <a:pPr>
              <a:defRPr sz="1300">
                <a:latin typeface="Century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Gridlines>
          <c:spPr>
            <a:ln>
              <a:solidFill>
                <a:srgbClr val="D9DD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latin typeface="Century Gothic"/>
              </a:defRPr>
            </a:pPr>
          </a:p>
        </c:txPr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Mean</c:v>
                </c:pt>
              </c:strCache>
            </c:strRef>
          </c:tx>
          <c:spPr>
            <a:solidFill>
              <a:srgbClr val="1D3784"/>
            </a:solidFill>
          </c:spPr>
          <c:cat>
            <c:strRef>
              <c:f>Sheet1!$A$2:$A$6</c:f>
              <c:strCache>
                <c:ptCount val="5"/>
                <c:pt idx="0">
                  <c:v>Aware of risks of AI dependency</c:v>
                </c:pt>
                <c:pt idx="1">
                  <c:v>Achieved its educational purpose</c:v>
                </c:pt>
                <c:pt idx="2">
                  <c:v>Can help other students reflect</c:v>
                </c:pt>
                <c:pt idx="3">
                  <c:v>Understanding my own work matters</c:v>
                </c:pt>
                <c:pt idx="4">
                  <c:v>Think critically about AI use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3.44</c:v>
                </c:pt>
                <c:pt idx="1">
                  <c:v>3.63</c:v>
                </c:pt>
                <c:pt idx="2">
                  <c:v>3.67</c:v>
                </c:pt>
                <c:pt idx="3">
                  <c:v>3.69</c:v>
                </c:pt>
                <c:pt idx="4">
                  <c:v>3.73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300" b="1">
                  <a:solidFill>
                    <a:srgbClr val="1A1A1A"/>
                  </a:solidFill>
                  <a:latin typeface="Century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B5B6B"/>
            </a:solidFill>
          </a:ln>
        </c:spPr>
        <c:txPr>
          <a:bodyPr/>
          <a:lstStyle/>
          <a:p>
            <a:pPr>
              <a:defRPr sz="1300">
                <a:latin typeface="Century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.0"/>
          <c:min val="0.0"/>
        </c:scaling>
        <c:delete val="0"/>
        <c:axPos val="b"/>
        <c:majorGridlines>
          <c:spPr>
            <a:ln>
              <a:solidFill>
                <a:srgbClr val="D9DD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latin typeface="Century Gothic"/>
              </a:defRPr>
            </a:pPr>
          </a:p>
        </c:txPr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B6D39CF-F4D5-432B-8863-3BE81A2AF4B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3508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7F427C-01D3-4577-B4FE-6702B67A543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4" y="0"/>
            <a:ext cx="3076363" cy="513508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FBE86CF3-4272-448E-BAC2-57863C7BED56}" type="datetimeFigureOut">
              <a:rPr lang="en-PH" smtClean="0"/>
              <a:t>02/12/2024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34817C-55CA-47D1-A5FB-9490F9D145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107"/>
            <a:ext cx="3076363" cy="513507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B97585-2C90-4D32-B769-0748F2D03F2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1938290E-365B-478C-A97B-CD9B8D7C77C6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297697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70755-587E-47DA-92FF-F00102A0B1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9C411E-25A5-4F45-8CCC-9D961DD955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AF6A4F-F284-4BF9-BD49-F1E17B2A7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18821-5B80-49DE-83C9-AB4B8D8DA84C}" type="datetimeFigureOut">
              <a:rPr lang="en-PH" smtClean="0"/>
              <a:t>02/12/2024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E3FA87-D136-4671-8AE2-1D76C20D9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F99822-A441-48FB-B060-E67BCB531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0EF2A-096D-4C65-8628-79D8105BAFC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35450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E540B-DB02-423F-B752-764F38E25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56B4C-4C83-4958-A38B-F3A66FB64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0B1999-C821-4819-A3FD-AA8661A13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18821-5B80-49DE-83C9-AB4B8D8DA84C}" type="datetimeFigureOut">
              <a:rPr lang="en-PH" smtClean="0"/>
              <a:t>02/12/2024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32EFAD-FD0F-469E-B1D5-1D56177B4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41A6CE-4B7D-463A-A8BD-AA8F7482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0EF2A-096D-4C65-8628-79D8105BAFC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98784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118BC-5E60-4358-9A33-8F58FA628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D685BE-004D-4A39-89EB-BFB604A8B8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84CB77-DDF5-4166-92C6-E9ECE9588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18821-5B80-49DE-83C9-AB4B8D8DA84C}" type="datetimeFigureOut">
              <a:rPr lang="en-PH" smtClean="0"/>
              <a:t>02/12/2024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ECB714-E9BA-4D5A-85AB-60FB201CE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4C078-A3E9-4392-8524-1E982A2E1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0EF2A-096D-4C65-8628-79D8105BAFC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558987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D6C7C-768E-450C-9248-054CE6F3A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1B300-01A6-4D09-9C94-EDDEA9D64D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3D27E-3F69-4127-B8F7-FAC6447137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89022-5EB8-4588-8596-CDCA99467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18821-5B80-49DE-83C9-AB4B8D8DA84C}" type="datetimeFigureOut">
              <a:rPr lang="en-PH" smtClean="0"/>
              <a:t>02/12/2024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AC4A74-818A-4137-AC45-21B41B5D9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67CE09-F974-4F9D-88E6-3D7920906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0EF2A-096D-4C65-8628-79D8105BAFC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97579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F53D3-AD80-4DDE-951D-128ADA902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27A65-376A-4A63-B09B-7B370DD6BD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3F9241-01C1-4D54-AFA3-1AFCEE9A5A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B601AA-2DB3-4A57-8327-5E7950EEC0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79D78D-5F3E-49DC-95DE-7DF0D2EA31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FF94E3-BD23-4B5C-9ABB-3FA8A4A96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18821-5B80-49DE-83C9-AB4B8D8DA84C}" type="datetimeFigureOut">
              <a:rPr lang="en-PH" smtClean="0"/>
              <a:t>02/12/2024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6A83CE-C7C1-4639-95D2-477C95B65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6F0CF6-7073-4154-B0CF-3E49F9E09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0EF2A-096D-4C65-8628-79D8105BAFC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20399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FFD46-99F0-4D75-A724-9AA3E05A3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024B3B-A3C9-4F21-A26F-D893BB365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18821-5B80-49DE-83C9-AB4B8D8DA84C}" type="datetimeFigureOut">
              <a:rPr lang="en-PH" smtClean="0"/>
              <a:t>02/12/2024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FB8E23-7F6A-43C0-A4D5-311246A9E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1B4A42-7544-43B6-AC30-2E16C4647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0EF2A-096D-4C65-8628-79D8105BAFC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61446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1F2B56-9FE7-4F4D-A9AB-96D1C4865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18821-5B80-49DE-83C9-AB4B8D8DA84C}" type="datetimeFigureOut">
              <a:rPr lang="en-PH" smtClean="0"/>
              <a:t>02/12/2024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CBC8A1-555F-4224-AC7E-CD1A12C85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D4D841-7016-4B86-BF78-D3FD2B172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0EF2A-096D-4C65-8628-79D8105BAFC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19363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A2502-8F86-4C85-9748-44E8E18062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99875-3E7F-47D7-944B-03A7F5A552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ED6588-0EA3-4A1A-8DAE-7B83257681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D3DAA8-44A5-4707-8AE0-81D5F4A1E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18821-5B80-49DE-83C9-AB4B8D8DA84C}" type="datetimeFigureOut">
              <a:rPr lang="en-PH" smtClean="0"/>
              <a:t>02/12/2024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9E9885-2FEA-43D8-AEFD-5CDE1A3C1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B057BB-0A7C-463C-A0BF-B368E8943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0EF2A-096D-4C65-8628-79D8105BAFC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9159458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AA7B9-B1C2-4F1F-8737-1A77B712F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C0D43-DDC3-4D9B-A0E5-D804F2602B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D2C059-C767-4C21-8455-357BCBA5C0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CFA01A-BB09-467D-B813-6F9D2F52A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18821-5B80-49DE-83C9-AB4B8D8DA84C}" type="datetimeFigureOut">
              <a:rPr lang="en-PH" smtClean="0"/>
              <a:t>02/12/2024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26AB7F-A079-47C9-B834-8D369BB11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60DDB2-A5D9-4289-9B09-5C56C4889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0EF2A-096D-4C65-8628-79D8105BAFC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560548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9F082-5870-4FD3-A44E-C418C9B79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845883-C61D-46B2-844D-14383CE47D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234735-51F1-49B6-8A99-9D31B40A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18821-5B80-49DE-83C9-AB4B8D8DA84C}" type="datetimeFigureOut">
              <a:rPr lang="en-PH" smtClean="0"/>
              <a:t>02/12/2024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61E732-A263-4A2C-A8C7-1B8AB66A3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93BB54-8CFA-49E4-9007-2C8745565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0EF2A-096D-4C65-8628-79D8105BAFC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588152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0327B3-7056-4345-B61A-CE23D19533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09B209-22CA-4FE6-AC42-60BCFC2686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E289D2-398B-4F3D-A510-04B62EEA2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18821-5B80-49DE-83C9-AB4B8D8DA84C}" type="datetimeFigureOut">
              <a:rPr lang="en-PH" smtClean="0"/>
              <a:t>02/12/2024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905E38-7121-4EA9-BB5B-F44D829E7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B33936-53EE-4F05-94D7-E85379A7C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90EF2A-096D-4C65-8628-79D8105BAFC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0203633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3054C4-85AC-4BBF-A12D-3E96C7F72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6523D8-43C1-41DC-86FD-B11F95C816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393823-1649-4DC5-B897-A7F1322E57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918821-5B80-49DE-83C9-AB4B8D8DA84C}" type="datetimeFigureOut">
              <a:rPr lang="en-PH" smtClean="0"/>
              <a:t>02/12/2024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93376-6E35-49F3-871B-59B4F15311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AF157-0BBA-4E0F-B2EB-8F806E71C7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90EF2A-096D-4C65-8628-79D8105BAFC1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0997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Relationship Id="rId3" Type="http://schemas.openxmlformats.org/officeDocument/2006/relationships/image" Target="../media/image1.jpg"/><Relationship Id="rId4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chart" Target="../charts/char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chart" Target="../charts/char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719DFEE-3698-423B-8D70-61A39DDE9D74}"/>
              </a:ext>
            </a:extLst>
          </p:cNvPr>
          <p:cNvSpPr txBox="1"/>
          <p:nvPr/>
        </p:nvSpPr>
        <p:spPr>
          <a:xfrm>
            <a:off x="1851297" y="1935458"/>
            <a:ext cx="9884229" cy="76944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PH" sz="4400" b="1" dirty="0">
                <a:solidFill>
                  <a:srgbClr val="1D3784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CTRL + THINK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8C4F7B-B20B-4ECF-AA56-3C03957C8E4F}"/>
              </a:ext>
            </a:extLst>
          </p:cNvPr>
          <p:cNvSpPr txBox="1"/>
          <p:nvPr/>
        </p:nvSpPr>
        <p:spPr>
          <a:xfrm>
            <a:off x="1851297" y="2900000"/>
            <a:ext cx="9884229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PH" sz="2200" i="1" dirty="0">
                <a:latin typeface="Century Gothic" panose="020B0502020202020204" pitchFamily="34" charset="0"/>
                <a:cs typeface="Arial" panose="020B0604020202020204" pitchFamily="34" charset="0"/>
              </a:rPr>
              <a:t>An Interactive Visual Novel Game Exploring AI Dependency Among College Students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1A6A98-3614-479D-B0F0-4CF2915C03E2}"/>
              </a:ext>
            </a:extLst>
          </p:cNvPr>
          <p:cNvSpPr txBox="1"/>
          <p:nvPr/>
        </p:nvSpPr>
        <p:spPr>
          <a:xfrm>
            <a:off x="1851297" y="4537821"/>
            <a:ext cx="4740003" cy="123110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PH" b="1" dirty="0">
                <a:solidFill>
                  <a:srgbClr val="1D3784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Amarela, Caldeo and Añez</a:t>
            </a:r>
          </a:p>
          <a:p>
            <a:r>
              <a:rPr lang="en-PH" sz="1400" dirty="0">
                <a:latin typeface="Century Gothic" panose="020B0502020202020204" pitchFamily="34" charset="0"/>
                <a:cs typeface="Arial" panose="020B0604020202020204" pitchFamily="34" charset="0"/>
              </a:rPr>
              <a:t>BSIT, Animation and Motion Graphics · AMG 4A</a:t>
            </a:r>
          </a:p>
          <a:p>
            <a:r>
              <a:rPr lang="en-PH" sz="1400" dirty="0">
                <a:latin typeface="Century Gothic" panose="020B0502020202020204" pitchFamily="34" charset="0"/>
                <a:cs typeface="Arial" panose="020B0604020202020204" pitchFamily="34" charset="0"/>
              </a:rPr>
              <a:t>College of Computer Studies</a:t>
            </a:r>
          </a:p>
          <a:p>
            <a:r>
              <a:rPr lang="en-PH" sz="1400" dirty="0">
                <a:latin typeface="Century Gothic" panose="020B0502020202020204" pitchFamily="34" charset="0"/>
                <a:cs typeface="Arial" panose="020B0604020202020204" pitchFamily="34" charset="0"/>
              </a:rPr>
              <a:t>Laguna State Polytechnic University</a:t>
            </a:r>
          </a:p>
          <a:p>
            <a:r>
              <a:rPr lang="en-PH" sz="1400" dirty="0">
                <a:latin typeface="Century Gothic" panose="020B0502020202020204" pitchFamily="34" charset="0"/>
                <a:cs typeface="Arial" panose="020B0604020202020204" pitchFamily="34" charset="0"/>
              </a:rPr>
              <a:t>Los Baños Campus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741ACA-DAFD-4950-BDDA-7A48C26224DD}"/>
              </a:ext>
            </a:extLst>
          </p:cNvPr>
          <p:cNvSpPr txBox="1"/>
          <p:nvPr/>
        </p:nvSpPr>
        <p:spPr>
          <a:xfrm>
            <a:off x="6946899" y="4537821"/>
            <a:ext cx="4418511" cy="5232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PH" sz="1400" dirty="0">
                <a:latin typeface="Century Gothic" panose="020B0502020202020204" pitchFamily="34" charset="0"/>
                <a:cs typeface="Arial" panose="020B0604020202020204" pitchFamily="34" charset="0"/>
              </a:rPr>
              <a:t>October 20, 2026</a:t>
            </a:r>
          </a:p>
          <a:p>
            <a:r>
              <a:rPr lang="en-PH" sz="1400" dirty="0">
                <a:latin typeface="Century Gothic" panose="020B0502020202020204" pitchFamily="34" charset="0"/>
                <a:cs typeface="Arial" panose="020B0604020202020204" pitchFamily="34" charset="0"/>
              </a:rPr>
              <a:t>Capstone Defense · Adviser: Jonalyn Joy Labayne</a:t>
            </a:r>
          </a:p>
        </p:txBody>
      </p:sp>
    </p:spTree>
    <p:extLst>
      <p:ext uri="{BB962C8B-B14F-4D97-AF65-F5344CB8AC3E}">
        <p14:creationId xmlns:p14="http://schemas.microsoft.com/office/powerpoint/2010/main" val="7627932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91640" y="1828800"/>
            <a:ext cx="91440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54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91640" y="3108960"/>
            <a:ext cx="42062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Bef>
                <a:spcPts val="0"/>
              </a:spcBef>
            </a:pPr>
            <a:r>
              <a:rPr sz="2600" b="1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Questions?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John Lorence B. Amarela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Andrei H. Caldeo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Christian B. Añez</a:t>
            </a:r>
          </a:p>
          <a:p>
            <a:pPr>
              <a:spcBef>
                <a:spcPts val="1400"/>
              </a:spcBef>
            </a:pPr>
            <a:r>
              <a:rPr sz="1300" b="0" i="0">
                <a:solidFill>
                  <a:srgbClr val="5B5B6B"/>
                </a:solidFill>
                <a:latin typeface="Century Gothic"/>
                <a:ea typeface="Century Gothic"/>
                <a:cs typeface="Century Gothic"/>
              </a:rPr>
              <a:t>Adviser: Jonalyn Joy Labayne</a:t>
            </a:r>
          </a:p>
        </p:txBody>
      </p:sp>
      <p:pic>
        <p:nvPicPr>
          <p:cNvPr id="4" name="Picture 3" descr="st_la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108960"/>
            <a:ext cx="4480560" cy="2516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065792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CHAPTER 1 -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3268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</a:pPr>
            <a:r>
              <a:rPr sz="1800" b="1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Problem</a:t>
            </a:r>
          </a:p>
          <a:p>
            <a:pPr marL="274320" indent="-274320">
              <a:spcBef>
                <a:spcPts val="300"/>
              </a:spcBef>
              <a:buChar char="•"/>
            </a:pPr>
            <a:r>
              <a:rPr sz="17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ChatGPT and Google Gemini are free, and students use them to brainstorm, summarize, write and solve problems</a:t>
            </a:r>
          </a:p>
          <a:p>
            <a:pPr marL="274320" indent="-274320">
              <a:spcBef>
                <a:spcPts val="300"/>
              </a:spcBef>
              <a:buChar char="•"/>
            </a:pPr>
            <a:r>
              <a:rPr sz="17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Over-reliance leads to cognitive offloading: critical thinking, creativity and analysis are not fully developed</a:t>
            </a:r>
          </a:p>
          <a:p>
            <a:pPr>
              <a:spcBef>
                <a:spcPts val="1400"/>
              </a:spcBef>
            </a:pPr>
            <a:r>
              <a:rPr sz="1800" b="1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Gap Identified</a:t>
            </a:r>
          </a:p>
          <a:p>
            <a:pPr marL="274320" indent="-274320">
              <a:spcBef>
                <a:spcPts val="300"/>
              </a:spcBef>
              <a:buChar char="•"/>
            </a:pPr>
            <a:r>
              <a:rPr sz="17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Most school responses limit or detect AI use</a:t>
            </a:r>
          </a:p>
          <a:p>
            <a:pPr marL="274320" indent="-274320">
              <a:spcBef>
                <a:spcPts val="300"/>
              </a:spcBef>
              <a:buChar char="•"/>
            </a:pPr>
            <a:r>
              <a:rPr sz="17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Few tools help students see how harmful over-reliance can be, especially Filipino college students</a:t>
            </a:r>
          </a:p>
          <a:p>
            <a:pPr>
              <a:spcBef>
                <a:spcPts val="1400"/>
              </a:spcBef>
            </a:pPr>
            <a:r>
              <a:rPr sz="1800" b="1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Proposed Solution</a:t>
            </a:r>
          </a:p>
          <a:p>
            <a:pPr marL="274320" indent="-274320">
              <a:spcBef>
                <a:spcPts val="300"/>
              </a:spcBef>
              <a:buChar char="•"/>
            </a:pPr>
            <a:r>
              <a:rPr sz="17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Ctrl + Think, an interactive visual novel built with Ren’Py for PC and Android</a:t>
            </a:r>
          </a:p>
          <a:p>
            <a:pPr marL="274320" indent="-274320">
              <a:spcBef>
                <a:spcPts val="300"/>
              </a:spcBef>
              <a:buChar char="•"/>
            </a:pPr>
            <a:r>
              <a:rPr sz="17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Students feel the consequences of AI dependency in a safe, simulated story before it affects real grades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PROJECT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3268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</a:pPr>
            <a:r>
              <a:rPr sz="1800" b="1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General Objective</a:t>
            </a:r>
          </a:p>
          <a:p>
            <a:pPr>
              <a:spcBef>
                <a:spcPts val="400"/>
              </a:spcBef>
            </a:pPr>
            <a:r>
              <a:rPr sz="17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To develop an interactive visual novel that highlights AI dependency among college students.</a:t>
            </a:r>
          </a:p>
          <a:p>
            <a:pPr>
              <a:spcBef>
                <a:spcPts val="1600"/>
              </a:spcBef>
            </a:pPr>
            <a:r>
              <a:rPr sz="1800" b="1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Specific Objectives</a:t>
            </a:r>
          </a:p>
          <a:p>
            <a:pPr marL="274320" indent="-274320">
              <a:spcBef>
                <a:spcPts val="600"/>
              </a:spcBef>
              <a:buChar char="•"/>
            </a:pPr>
            <a:r>
              <a:rPr sz="17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Develop:</a:t>
            </a:r>
            <a:r>
              <a:rPr sz="17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 Create a visual novel that shows the process and impact of relying on AI through story branches, character interactions, player decisions and 2D graphics.</a:t>
            </a:r>
          </a:p>
          <a:p>
            <a:pPr marL="274320" indent="-274320">
              <a:spcBef>
                <a:spcPts val="600"/>
              </a:spcBef>
              <a:buChar char="•"/>
            </a:pPr>
            <a:r>
              <a:rPr sz="17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Reflect:</a:t>
            </a:r>
            <a:r>
              <a:rPr sz="17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 Assess whether the game supports self-reflection and responsible AI use, balancing AI assistance with the student’s own thinking.</a:t>
            </a:r>
          </a:p>
          <a:p>
            <a:pPr marL="274320" indent="-274320">
              <a:spcBef>
                <a:spcPts val="600"/>
              </a:spcBef>
              <a:buChar char="•"/>
            </a:pPr>
            <a:r>
              <a:rPr sz="17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Evaluate:</a:t>
            </a:r>
            <a:r>
              <a:rPr sz="17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 Assess usability and learning efficacy using the Technology Acceptance Model (TAM).</a:t>
            </a:r>
          </a:p>
          <a:p>
            <a:pPr>
              <a:spcBef>
                <a:spcPts val="1600"/>
              </a:spcBef>
            </a:pPr>
            <a:r>
              <a:rPr sz="1300" b="0" i="0">
                <a:solidFill>
                  <a:srgbClr val="5B5B6B"/>
                </a:solidFill>
                <a:latin typeface="Century Gothic"/>
                <a:ea typeface="Century Gothic"/>
                <a:cs typeface="Century Gothic"/>
              </a:rPr>
              <a:t>Aligned with SDG 4 (Quality Education) and SDG 9 (Industry, Innovation and Infrastructure).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4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CHAPTER 2 - CONCEPTUAL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651760"/>
            <a:ext cx="2286000" cy="1828800"/>
          </a:xfrm>
          <a:prstGeom prst="roundRect">
            <a:avLst>
              <a:gd name="adj" fmla="val 8000"/>
            </a:avLst>
          </a:prstGeom>
          <a:solidFill>
            <a:srgbClr val="E8ECF7"/>
          </a:solidFill>
          <a:ln w="19050">
            <a:solidFill>
              <a:srgbClr val="1D3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External variables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5B5B6B"/>
                </a:solidFill>
                <a:latin typeface="Century Gothic"/>
                <a:ea typeface="Century Gothic"/>
                <a:cs typeface="Century Gothic"/>
              </a:rPr>
              <a:t>System: story, characters, graphics, mini games
User: profile, AI use, dependency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23360" y="1600200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E8ECF7"/>
          </a:solidFill>
          <a:ln w="19050">
            <a:solidFill>
              <a:srgbClr val="1D3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Perceived Usefulness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5B5B6B"/>
                </a:solidFill>
                <a:latin typeface="Century Gothic"/>
                <a:ea typeface="Century Gothic"/>
                <a:cs typeface="Century Gothic"/>
              </a:rPr>
              <a:t>Does it help me reflect?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23360" y="2926080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E8ECF7"/>
          </a:solidFill>
          <a:ln w="19050">
            <a:solidFill>
              <a:srgbClr val="1D3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Perceived Ease of Use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5B5B6B"/>
                </a:solidFill>
                <a:latin typeface="Century Gothic"/>
                <a:ea typeface="Century Gothic"/>
                <a:cs typeface="Century Gothic"/>
              </a:rPr>
              <a:t>Is it free of effort?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4251960"/>
            <a:ext cx="2377440" cy="1097280"/>
          </a:xfrm>
          <a:prstGeom prst="roundRect">
            <a:avLst>
              <a:gd name="adj" fmla="val 8000"/>
            </a:avLst>
          </a:prstGeom>
          <a:solidFill>
            <a:srgbClr val="FFF3D6"/>
          </a:solidFill>
          <a:ln w="19050">
            <a:solidFill>
              <a:srgbClr val="1D3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Enjoyment and Engagement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Added for a game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651760"/>
            <a:ext cx="1737360" cy="1828800"/>
          </a:xfrm>
          <a:prstGeom prst="roundRect">
            <a:avLst>
              <a:gd name="adj" fmla="val 8000"/>
            </a:avLst>
          </a:prstGeom>
          <a:solidFill>
            <a:srgbClr val="E8ECF7"/>
          </a:solidFill>
          <a:ln w="19050">
            <a:solidFill>
              <a:srgbClr val="1D3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Attitude Toward Using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5B5B6B"/>
                </a:solidFill>
                <a:latin typeface="Century Gothic"/>
                <a:ea typeface="Century Gothic"/>
                <a:cs typeface="Century Gothic"/>
              </a:rPr>
              <a:t>Feeling about the game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651760"/>
            <a:ext cx="1737360" cy="1828800"/>
          </a:xfrm>
          <a:prstGeom prst="roundRect">
            <a:avLst>
              <a:gd name="adj" fmla="val 8000"/>
            </a:avLst>
          </a:prstGeom>
          <a:solidFill>
            <a:srgbClr val="1D3784"/>
          </a:solidFill>
          <a:ln w="19050">
            <a:solidFill>
              <a:srgbClr val="1D3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 i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Behavioral Intention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Play again, recommend, accept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429000" y="3429000"/>
            <a:ext cx="548640" cy="27432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6446520" y="3429000"/>
            <a:ext cx="548640" cy="27432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8823960" y="3429000"/>
            <a:ext cx="365760" cy="27432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623560"/>
            <a:ext cx="9875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Bef>
                <a:spcPts val="0"/>
              </a:spcBef>
            </a:pPr>
            <a:r>
              <a:rPr sz="1300" b="0" i="0">
                <a:solidFill>
                  <a:srgbClr val="5B5B6B"/>
                </a:solidFill>
                <a:latin typeface="Century Gothic"/>
                <a:ea typeface="Century Gothic"/>
                <a:cs typeface="Century Gothic"/>
              </a:rPr>
              <a:t>Adapted from Davis (1989) and Davis et al. (1992). The Technology Acceptance Model is extended with enjoyment and engagement because Ctrl + Think is a game.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THE GAME: CTRL + THINK</a:t>
            </a:r>
          </a:p>
        </p:txBody>
      </p:sp>
      <p:pic>
        <p:nvPicPr>
          <p:cNvPr id="3" name="Picture 2" descr="st_tri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554480"/>
            <a:ext cx="5669280" cy="31845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461772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Bef>
                <a:spcPts val="0"/>
              </a:spcBef>
            </a:pPr>
            <a:r>
              <a:rPr sz="1100" b="0" i="0">
                <a:solidFill>
                  <a:srgbClr val="5B5B6B"/>
                </a:solidFill>
                <a:latin typeface="Century Gothic"/>
                <a:ea typeface="Century Gothic"/>
                <a:cs typeface="Century Gothic"/>
              </a:rPr>
              <a:t>Chapter 1, Morning Chaos (screenshot from the game)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0" y="1417320"/>
            <a:ext cx="40233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</a:pPr>
            <a:r>
              <a:rPr sz="1600" b="1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What it is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A 2D Ren’Py visual novel. The player is a college student who keeps deciding whether to rely on AI or on personal effort.</a:t>
            </a:r>
          </a:p>
          <a:p>
            <a:pPr>
              <a:spcBef>
                <a:spcPts val="600"/>
              </a:spcBef>
            </a:pPr>
            <a:r>
              <a:rPr sz="2200" b="1" i="0">
                <a:solidFill>
                  <a:srgbClr val="FF0000"/>
                </a:solidFill>
                <a:latin typeface="Century Gothic"/>
                <a:ea typeface="Century Gothic"/>
                <a:cs typeface="Century Gothic"/>
              </a:rPr>
              <a:t>6  </a:t>
            </a:r>
            <a:r>
              <a:rPr sz="14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chapters plus a Free Day</a:t>
            </a:r>
          </a:p>
          <a:p>
            <a:pPr>
              <a:spcBef>
                <a:spcPts val="600"/>
              </a:spcBef>
            </a:pPr>
            <a:r>
              <a:rPr sz="2200" b="1" i="0">
                <a:solidFill>
                  <a:srgbClr val="FF0000"/>
                </a:solidFill>
                <a:latin typeface="Century Gothic"/>
                <a:ea typeface="Century Gothic"/>
                <a:cs typeface="Century Gothic"/>
              </a:rPr>
              <a:t>3  </a:t>
            </a:r>
            <a:r>
              <a:rPr sz="14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routes and endings</a:t>
            </a:r>
          </a:p>
          <a:p>
            <a:pPr>
              <a:spcBef>
                <a:spcPts val="600"/>
              </a:spcBef>
            </a:pPr>
            <a:r>
              <a:rPr sz="2200" b="1" i="0">
                <a:solidFill>
                  <a:srgbClr val="FF0000"/>
                </a:solidFill>
                <a:latin typeface="Century Gothic"/>
                <a:ea typeface="Century Gothic"/>
                <a:cs typeface="Century Gothic"/>
              </a:rPr>
              <a:t>10+  </a:t>
            </a:r>
            <a:r>
              <a:rPr sz="14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mini games</a:t>
            </a:r>
          </a:p>
          <a:p>
            <a:pPr>
              <a:spcBef>
                <a:spcPts val="600"/>
              </a:spcBef>
            </a:pPr>
            <a:r>
              <a:rPr sz="2200" b="1" i="0">
                <a:solidFill>
                  <a:srgbClr val="FF0000"/>
                </a:solidFill>
                <a:latin typeface="Century Gothic"/>
                <a:ea typeface="Century Gothic"/>
                <a:cs typeface="Century Gothic"/>
              </a:rPr>
              <a:t>2  </a:t>
            </a:r>
            <a:r>
              <a:rPr sz="14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platforms: PC and Android</a:t>
            </a:r>
          </a:p>
          <a:p>
            <a:pPr>
              <a:spcBef>
                <a:spcPts val="1000"/>
              </a:spcBef>
            </a:pPr>
            <a:r>
              <a:rPr sz="1300" b="0" i="0">
                <a:solidFill>
                  <a:srgbClr val="5B5B6B"/>
                </a:solidFill>
                <a:latin typeface="Century Gothic"/>
                <a:ea typeface="Century Gothic"/>
                <a:cs typeface="Century Gothic"/>
              </a:rPr>
              <a:t>Story dialogue is in Taglish.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074920"/>
            <a:ext cx="5669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</a:pPr>
            <a:r>
              <a:rPr sz="1400" b="1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Chapters</a:t>
            </a:r>
          </a:p>
          <a:p>
            <a:pPr>
              <a:spcBef>
                <a:spcPts val="200"/>
              </a:spcBef>
            </a:pPr>
            <a:r>
              <a:rPr sz="12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1 Morning Chaos · 2 The Blank Page · 3 Process Over Answers · 4 Whose Work Is It? · 5 The Final Challenge · 6 What We Carry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ROUTES AND ENDINGS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875520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63040"/>
                <a:gridCol w="2807208"/>
                <a:gridCol w="2807208"/>
                <a:gridCol w="2798064"/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/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Route A · Balanced</a:t>
                      </a:r>
                    </a:p>
                  </a:txBody>
                  <a:tcPr anchor="ctr" marL="91440" marR="91440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Route B · Moderate</a:t>
                      </a:r>
                    </a:p>
                  </a:txBody>
                  <a:tcPr anchor="ctr" marL="91440" marR="91440">
                    <a:solidFill>
                      <a:srgbClr val="B8670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Route C · High dependence</a:t>
                      </a:r>
                    </a:p>
                  </a:txBody>
                  <a:tcPr anchor="ctr" marL="91440" marR="91440">
                    <a:solidFill>
                      <a:srgbClr val="C039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D3784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Hidden score</a:t>
                      </a:r>
                    </a:p>
                  </a:txBody>
                  <a:tcPr anchor="ctr" marL="91440" marR="91440">
                    <a:solidFill>
                      <a:srgbClr val="E8EC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0–33</a:t>
                      </a:r>
                    </a:p>
                  </a:txBody>
                  <a:tcPr anchor="ctr" marL="91440" marR="91440">
                    <a:solidFill>
                      <a:srgbClr val="E8EC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34–66</a:t>
                      </a:r>
                    </a:p>
                  </a:txBody>
                  <a:tcPr anchor="ctr" marL="91440" marR="91440">
                    <a:solidFill>
                      <a:srgbClr val="E8EC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67–100</a:t>
                      </a:r>
                    </a:p>
                  </a:txBody>
                  <a:tcPr anchor="ctr" marL="91440" marR="91440">
                    <a:solidFill>
                      <a:srgbClr val="E8ECF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D3784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Behavior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Thinks first and uses AI only as support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Mixes own effort with frequent AI shortcuts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Lets AI do most of the thinking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D3784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Outcome</a:t>
                      </a:r>
                    </a:p>
                  </a:txBody>
                  <a:tcPr anchor="ctr" marL="91440" marR="91440">
                    <a:solidFill>
                      <a:srgbClr val="E8EC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Strong grades and real understanding</a:t>
                      </a:r>
                    </a:p>
                  </a:txBody>
                  <a:tcPr anchor="ctr" marL="91440" marR="91440">
                    <a:solidFill>
                      <a:srgbClr val="E8EC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Passes, but with shaky confidence</a:t>
                      </a:r>
                    </a:p>
                  </a:txBody>
                  <a:tcPr anchor="ctr" marL="91440" marR="91440">
                    <a:solidFill>
                      <a:srgbClr val="E8EC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Fast results, weak understanding</a:t>
                      </a:r>
                    </a:p>
                  </a:txBody>
                  <a:tcPr anchor="ctr" marL="91440" marR="91440">
                    <a:solidFill>
                      <a:srgbClr val="E8ECF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D3784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Message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AI is a tool, not a replacement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Leaning on AI can slowly replace your own skills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1A1A1A"/>
                          </a:solidFill>
                          <a:latin typeface="Century Gothic"/>
                          <a:ea typeface="Century Gothic"/>
                          <a:cs typeface="Century Gothic"/>
                        </a:rPr>
                        <a:t>Over-reliance costs learning and originality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4406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Bef>
                <a:spcPts val="0"/>
              </a:spcBef>
            </a:pPr>
            <a:r>
              <a:rPr sz="1400" b="0" i="0">
                <a:solidFill>
                  <a:srgbClr val="5B5B6B"/>
                </a:solidFill>
                <a:latin typeface="Century Gothic"/>
                <a:ea typeface="Century Gothic"/>
                <a:cs typeface="Century Gothic"/>
              </a:rPr>
              <a:t>A hidden dependency score rises with every AI shortcut and decides the ending. The player never sees the number while playing.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MINI GAMES WITH AN AI SHORTCUT</a:t>
            </a:r>
          </a:p>
        </p:txBody>
      </p:sp>
      <p:pic>
        <p:nvPicPr>
          <p:cNvPr id="3" name="Picture 2" descr="mg_hid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463040"/>
            <a:ext cx="3108960" cy="17463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321183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Bef>
                <a:spcPts val="0"/>
              </a:spcBef>
            </a:pPr>
            <a:r>
              <a:rPr sz="13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Morning Chaos</a:t>
            </a:r>
          </a:p>
        </p:txBody>
      </p:sp>
      <p:pic>
        <p:nvPicPr>
          <p:cNvPr id="5" name="Picture 4" descr="mg_ide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59" y="1463040"/>
            <a:ext cx="3108960" cy="174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80559" y="321183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Bef>
                <a:spcPts val="0"/>
              </a:spcBef>
            </a:pPr>
            <a:r>
              <a:rPr sz="13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Idea Match</a:t>
            </a:r>
          </a:p>
        </p:txBody>
      </p:sp>
      <p:pic>
        <p:nvPicPr>
          <p:cNvPr id="7" name="Picture 6" descr="mg_patter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1463040"/>
            <a:ext cx="3108960" cy="17463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63840" y="321183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Bef>
                <a:spcPts val="0"/>
              </a:spcBef>
            </a:pPr>
            <a:r>
              <a:rPr sz="13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Pattern Logic</a:t>
            </a:r>
          </a:p>
        </p:txBody>
      </p:sp>
      <p:pic>
        <p:nvPicPr>
          <p:cNvPr id="9" name="Picture 8" descr="mg_catch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806189"/>
            <a:ext cx="3108960" cy="1746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" y="5554979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Bef>
                <a:spcPts val="0"/>
              </a:spcBef>
            </a:pPr>
            <a:r>
              <a:rPr sz="13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Catch the Errors</a:t>
            </a:r>
          </a:p>
        </p:txBody>
      </p:sp>
      <p:pic>
        <p:nvPicPr>
          <p:cNvPr id="11" name="Picture 10" descr="mg_focu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0559" y="3806189"/>
            <a:ext cx="3108960" cy="1746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80559" y="5554979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Bef>
                <a:spcPts val="0"/>
              </a:spcBef>
            </a:pPr>
            <a:r>
              <a:rPr sz="13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Focus Mode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3806189"/>
            <a:ext cx="3108960" cy="1748789"/>
          </a:xfrm>
          <a:prstGeom prst="roundRect">
            <a:avLst>
              <a:gd name="adj" fmla="val 8000"/>
            </a:avLst>
          </a:prstGeom>
          <a:solidFill>
            <a:srgbClr val="E8ECF7"/>
          </a:solidFill>
          <a:ln w="19050">
            <a:solidFill>
              <a:srgbClr val="1D3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4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Every game offers a shortcut</a:t>
            </a:r>
          </a:p>
          <a:p>
            <a:pPr algn="l">
              <a:spcBef>
                <a:spcPts val="300"/>
              </a:spcBef>
            </a:pPr>
            <a:r>
              <a:rPr sz="12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AI Hint, Auto-Solve, Run AI Checker or Ask AI. It is easy to take, and it raises the hidden dependency score.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4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CHAPTER 3 - RESEARCH METHOD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1D37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48</a:t>
            </a:r>
          </a:p>
          <a:p>
            <a:pPr algn="ctr">
              <a:spcBef>
                <a:spcPts val="300"/>
              </a:spcBef>
            </a:pPr>
            <a:r>
              <a:rPr sz="1500" b="1" i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college student respondents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60" y="146304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1D37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39</a:t>
            </a:r>
          </a:p>
          <a:p>
            <a:pPr algn="ctr">
              <a:spcBef>
                <a:spcPts val="300"/>
              </a:spcBef>
            </a:pPr>
            <a:r>
              <a:rPr sz="1500" b="1" i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rated statements in 5 parts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1463040"/>
            <a:ext cx="3108960" cy="1371600"/>
          </a:xfrm>
          <a:prstGeom prst="roundRect">
            <a:avLst>
              <a:gd name="adj" fmla="val 8000"/>
            </a:avLst>
          </a:prstGeom>
          <a:solidFill>
            <a:srgbClr val="1D37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5</a:t>
            </a:r>
          </a:p>
          <a:p>
            <a:pPr algn="ctr">
              <a:spcBef>
                <a:spcPts val="300"/>
              </a:spcBef>
            </a:pPr>
            <a:r>
              <a:rPr sz="1500" b="1" i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point Likert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08960"/>
            <a:ext cx="987552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</a:pPr>
            <a:r>
              <a:rPr sz="1600" b="1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Design</a:t>
            </a:r>
          </a:p>
          <a:p>
            <a:pPr marL="274320" indent="-274320">
              <a:spcBef>
                <a:spcPts val="300"/>
              </a:spcBef>
              <a:buChar char="•"/>
            </a:pPr>
            <a:r>
              <a:rPr sz="17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Descriptive, quantitative survey answered through Google Forms after respondents played the game; data privacy consent included</a:t>
            </a:r>
          </a:p>
          <a:p>
            <a:pPr>
              <a:spcBef>
                <a:spcPts val="1000"/>
              </a:spcBef>
            </a:pPr>
            <a:r>
              <a:rPr sz="1600" b="1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Analysis</a:t>
            </a:r>
          </a:p>
          <a:p>
            <a:pPr marL="274320" indent="-274320">
              <a:spcBef>
                <a:spcPts val="300"/>
              </a:spcBef>
              <a:buChar char="•"/>
            </a:pPr>
            <a:r>
              <a:rPr sz="17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Frequency and percentage for the profile, weighted mean and standard deviation per statement, Cronbach’s alpha for reliability</a:t>
            </a:r>
          </a:p>
          <a:p>
            <a:pPr>
              <a:spcBef>
                <a:spcPts val="1000"/>
              </a:spcBef>
            </a:pPr>
            <a:r>
              <a:rPr sz="1600" b="1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Interpretation scale</a:t>
            </a:r>
          </a:p>
          <a:p>
            <a:pPr marL="274320" indent="-274320">
              <a:spcBef>
                <a:spcPts val="300"/>
              </a:spcBef>
              <a:buChar char="•"/>
            </a:pPr>
            <a:r>
              <a:rPr sz="14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4.21–5.00 Strongly Agree · 3.41–4.20 Agree · 2.61–3.40 Neutral · 1.81–2.60 Disagree · 1.00–1.80 Strongly Disagree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LEVEL OF AI USAGE AND DEPENDENCY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2377440" cy="2011680"/>
          </a:xfrm>
          <a:prstGeom prst="roundRect">
            <a:avLst>
              <a:gd name="adj" fmla="val 8000"/>
            </a:avLst>
          </a:prstGeom>
          <a:solidFill>
            <a:srgbClr val="1D37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3.12</a:t>
            </a:r>
          </a:p>
          <a:p>
            <a:pPr algn="ctr">
              <a:spcBef>
                <a:spcPts val="300"/>
              </a:spcBef>
            </a:pPr>
            <a:r>
              <a:rPr sz="1500" b="1" i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Neutral (moderate)</a:t>
            </a:r>
          </a:p>
          <a:p>
            <a:pPr algn="ctr">
              <a:spcBef>
                <a:spcPts val="300"/>
              </a:spcBef>
            </a:pPr>
            <a:r>
              <a:rPr sz="1200" b="0" i="0">
                <a:solidFill>
                  <a:srgbClr val="DDE4F7"/>
                </a:solidFill>
                <a:latin typeface="Century Gothic"/>
                <a:ea typeface="Century Gothic"/>
                <a:cs typeface="Century Gothic"/>
              </a:rPr>
              <a:t>SD = 0.85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0" y="1280160"/>
          <a:ext cx="7498079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3657600"/>
            <a:ext cx="24688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Bef>
                <a:spcPts val="0"/>
              </a:spcBef>
            </a:pPr>
            <a:r>
              <a:rPr sz="1200" b="0" i="0">
                <a:solidFill>
                  <a:srgbClr val="5B5B6B"/>
                </a:solidFill>
                <a:latin typeface="Century Gothic"/>
                <a:ea typeface="Century Gothic"/>
                <a:cs typeface="Century Gothic"/>
              </a:rPr>
              <a:t>Respondents neither agreed nor disagreed that they rely heavily on AI. They strongly agreed that critical thinking matters (4.27) and agreed that they verify AI information (3.58).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5532120"/>
            <a:ext cx="749807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Bef>
                <a:spcPts val="0"/>
              </a:spcBef>
            </a:pPr>
            <a:r>
              <a:rPr sz="1200" b="0" i="0">
                <a:solidFill>
                  <a:srgbClr val="5B5B6B"/>
                </a:solidFill>
                <a:latin typeface="Century Gothic"/>
                <a:ea typeface="Century Gothic"/>
                <a:cs typeface="Century Gothic"/>
              </a:rPr>
              <a:t>Every item except the last had SD above 1.00, so dependency varied widely. The last two items describe responsible use, so read the composite with that in mind.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SYSTEM CHARACTERISTICS OF THE GAME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2377440" cy="2011680"/>
          </a:xfrm>
          <a:prstGeom prst="roundRect">
            <a:avLst>
              <a:gd name="adj" fmla="val 8000"/>
            </a:avLst>
          </a:prstGeom>
          <a:solidFill>
            <a:srgbClr val="1D37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4.07</a:t>
            </a:r>
          </a:p>
          <a:p>
            <a:pPr algn="ctr">
              <a:spcBef>
                <a:spcPts val="300"/>
              </a:spcBef>
            </a:pPr>
            <a:r>
              <a:rPr sz="1500" b="1" i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Agree</a:t>
            </a:r>
          </a:p>
          <a:p>
            <a:pPr algn="ctr">
              <a:spcBef>
                <a:spcPts val="300"/>
              </a:spcBef>
            </a:pPr>
            <a:r>
              <a:rPr sz="1200" b="0" i="0">
                <a:solidFill>
                  <a:srgbClr val="DDE4F7"/>
                </a:solidFill>
                <a:latin typeface="Century Gothic"/>
                <a:ea typeface="Century Gothic"/>
                <a:cs typeface="Century Gothic"/>
              </a:rPr>
              <a:t>Highest-rated part, SD = 0.57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0" y="1280160"/>
          <a:ext cx="7498079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3657600" y="429768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E8ECF7"/>
          </a:solidFill>
          <a:ln w="19050">
            <a:solidFill>
              <a:srgbClr val="1D3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26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4.38</a:t>
            </a:r>
          </a:p>
          <a:p>
            <a:pPr algn="ctr">
              <a:spcBef>
                <a:spcPts val="300"/>
              </a:spcBef>
            </a:pPr>
            <a:r>
              <a:rPr sz="12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Character designs suit their roles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429768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E8ECF7"/>
          </a:solidFill>
          <a:ln w="19050">
            <a:solidFill>
              <a:srgbClr val="1D3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26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4.35</a:t>
            </a:r>
          </a:p>
          <a:p>
            <a:pPr algn="ctr">
              <a:spcBef>
                <a:spcPts val="300"/>
              </a:spcBef>
            </a:pPr>
            <a:r>
              <a:rPr sz="12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Mini games relevant to the story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0" y="429768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E8ECF7"/>
          </a:solidFill>
          <a:ln w="19050">
            <a:solidFill>
              <a:srgbClr val="1D3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26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4.31</a:t>
            </a:r>
          </a:p>
          <a:p>
            <a:pPr algn="ctr">
              <a:spcBef>
                <a:spcPts val="300"/>
              </a:spcBef>
            </a:pPr>
            <a:r>
              <a:rPr sz="12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Mini game difficulty appropriate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657600"/>
            <a:ext cx="24688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Bef>
                <a:spcPts val="0"/>
              </a:spcBef>
            </a:pPr>
            <a:r>
              <a:rPr sz="1200" b="0" i="0">
                <a:solidFill>
                  <a:srgbClr val="5B5B6B"/>
                </a:solidFill>
                <a:latin typeface="Century Gothic"/>
                <a:ea typeface="Century Gothic"/>
                <a:cs typeface="Century Gothic"/>
              </a:rPr>
              <a:t>Three items reached Strongly Agree. The lowest item, believable character actions, was still Agree (3.69).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TECHNOLOGY ACCEPTANCE MODEL RESULTS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2377440" cy="2011680"/>
          </a:xfrm>
          <a:prstGeom prst="roundRect">
            <a:avLst>
              <a:gd name="adj" fmla="val 8000"/>
            </a:avLst>
          </a:prstGeom>
          <a:solidFill>
            <a:srgbClr val="1D37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3.73</a:t>
            </a:r>
          </a:p>
          <a:p>
            <a:pPr algn="ctr">
              <a:spcBef>
                <a:spcPts val="300"/>
              </a:spcBef>
            </a:pPr>
            <a:r>
              <a:rPr sz="1500" b="1" i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Overall mean: Agree</a:t>
            </a:r>
          </a:p>
          <a:p>
            <a:pPr algn="ctr">
              <a:spcBef>
                <a:spcPts val="300"/>
              </a:spcBef>
            </a:pPr>
            <a:r>
              <a:rPr sz="1200" b="0" i="0">
                <a:solidFill>
                  <a:srgbClr val="DDE4F7"/>
                </a:solidFill>
                <a:latin typeface="Century Gothic"/>
                <a:ea typeface="Century Gothic"/>
                <a:cs typeface="Century Gothic"/>
              </a:rPr>
              <a:t>High acceptance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0" y="1280160"/>
          <a:ext cx="7498079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3657600"/>
            <a:ext cx="24688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Bef>
                <a:spcPts val="0"/>
              </a:spcBef>
            </a:pPr>
            <a:r>
              <a:rPr sz="1200" b="0" i="0">
                <a:solidFill>
                  <a:srgbClr val="5B5B6B"/>
                </a:solidFill>
                <a:latin typeface="Century Gothic"/>
                <a:ea typeface="Century Gothic"/>
                <a:cs typeface="Century Gothic"/>
              </a:rPr>
              <a:t>Easy to use and enjoyable, but usefulness scored lowest. Recognizing the importance of independent thinking was the lowest single item (3.25, Neutral).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4937760"/>
            <a:ext cx="749807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Bef>
                <a:spcPts val="0"/>
              </a:spcBef>
            </a:pPr>
            <a:r>
              <a:rPr sz="1200" b="0" i="0">
                <a:solidFill>
                  <a:srgbClr val="5B5B6B"/>
                </a:solidFill>
                <a:latin typeface="Century Gothic"/>
                <a:ea typeface="Century Gothic"/>
                <a:cs typeface="Century Gothic"/>
              </a:rPr>
              <a:t>Reliability: Cronbach’s alpha of all 39 statements = 0.873 (Good). Enjoyment (0.637), Usefulness (0.556) and Attitude (0.434) were lower because they have only 3–4 items, so read them with caution.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OVERALL LEARNING AND FEEDBACK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2377440" cy="2011680"/>
          </a:xfrm>
          <a:prstGeom prst="roundRect">
            <a:avLst>
              <a:gd name="adj" fmla="val 8000"/>
            </a:avLst>
          </a:prstGeom>
          <a:solidFill>
            <a:srgbClr val="1D37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4000" b="1" i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3.63</a:t>
            </a:r>
          </a:p>
          <a:p>
            <a:pPr algn="ctr">
              <a:spcBef>
                <a:spcPts val="300"/>
              </a:spcBef>
            </a:pPr>
            <a:r>
              <a:rPr sz="1500" b="1" i="0">
                <a:solidFill>
                  <a:srgbClr val="FFFFFF"/>
                </a:solidFill>
                <a:latin typeface="Century Gothic"/>
                <a:ea typeface="Century Gothic"/>
                <a:cs typeface="Century Gothic"/>
              </a:rPr>
              <a:t>Agree</a:t>
            </a:r>
          </a:p>
          <a:p>
            <a:pPr algn="ctr">
              <a:spcBef>
                <a:spcPts val="300"/>
              </a:spcBef>
            </a:pPr>
            <a:r>
              <a:rPr sz="1200" b="0" i="0">
                <a:solidFill>
                  <a:srgbClr val="DDE4F7"/>
                </a:solidFill>
                <a:latin typeface="Century Gothic"/>
                <a:ea typeface="Century Gothic"/>
                <a:cs typeface="Century Gothic"/>
              </a:rPr>
              <a:t>SD = 0.69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0" y="1280160"/>
          <a:ext cx="7498079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097280" y="4937760"/>
            <a:ext cx="9875520" cy="914400"/>
          </a:xfrm>
          <a:prstGeom prst="roundRect">
            <a:avLst>
              <a:gd name="adj" fmla="val 8000"/>
            </a:avLst>
          </a:prstGeom>
          <a:solidFill>
            <a:srgbClr val="FFF3D6"/>
          </a:solidFill>
          <a:ln w="19050">
            <a:solidFill>
              <a:srgbClr val="B86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/>
            <a:r>
              <a:rPr sz="13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Keep in mind: these are self-reported perceptions after one play. They show what students felt, not a measured change in behavior.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11480"/>
            <a:ext cx="9144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 i="0">
                <a:solidFill>
                  <a:srgbClr val="1D3784"/>
                </a:solidFill>
                <a:latin typeface="Century Gothic"/>
                <a:ea typeface="Century Gothic"/>
                <a:cs typeface="Century Gothic"/>
              </a:rPr>
              <a:t>CONCLUSION AND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6926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</a:pPr>
            <a:r>
              <a:rPr sz="2200" b="1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Conclusion</a:t>
            </a:r>
          </a:p>
          <a:p>
            <a:pPr marL="274320" indent="-274320">
              <a:spcBef>
                <a:spcPts val="300"/>
              </a:spcBef>
              <a:buChar char="•"/>
            </a:pPr>
            <a:r>
              <a:rPr sz="18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Ctrl + Think shows the process and effects of AI dependency through branching routes, characters and decisions</a:t>
            </a:r>
          </a:p>
          <a:p>
            <a:pPr marL="274320" indent="-274320">
              <a:spcBef>
                <a:spcPts val="300"/>
              </a:spcBef>
              <a:buChar char="•"/>
            </a:pPr>
            <a:r>
              <a:rPr sz="18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Respondents agreed it supports self-reflection (3.63) and has high acceptance (3.73), with Good reliability (0.873)</a:t>
            </a:r>
          </a:p>
          <a:p>
            <a:pPr marL="274320" indent="-274320">
              <a:spcBef>
                <a:spcPts val="300"/>
              </a:spcBef>
              <a:buChar char="•"/>
            </a:pPr>
            <a:r>
              <a:rPr sz="18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It is an acceptable, usable educational game and a starting point for balanced, responsible AI use in learning</a:t>
            </a:r>
          </a:p>
          <a:p>
            <a:pPr>
              <a:spcBef>
                <a:spcPts val="2200"/>
              </a:spcBef>
            </a:pPr>
            <a:r>
              <a:rPr sz="2200" b="1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Recommendation</a:t>
            </a:r>
          </a:p>
          <a:p>
            <a:pPr marL="274320" indent="-274320">
              <a:spcBef>
                <a:spcPts val="300"/>
              </a:spcBef>
              <a:buChar char="•"/>
            </a:pPr>
            <a:r>
              <a:rPr sz="18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Students: play it and verify AI answers before using them</a:t>
            </a:r>
          </a:p>
          <a:p>
            <a:pPr marL="274320" indent="-274320">
              <a:spcBef>
                <a:spcPts val="300"/>
              </a:spcBef>
              <a:buChar char="•"/>
            </a:pPr>
            <a:r>
              <a:rPr sz="18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Teachers and schools: use it in discussions on academic integrity and responsible AI</a:t>
            </a:r>
          </a:p>
          <a:p>
            <a:pPr marL="274320" indent="-274320">
              <a:spcBef>
                <a:spcPts val="300"/>
              </a:spcBef>
              <a:buChar char="•"/>
            </a:pPr>
            <a:r>
              <a:rPr sz="18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Developers: make the story more gripping, stress independent thinking, add routes and endings</a:t>
            </a:r>
          </a:p>
          <a:p>
            <a:pPr marL="274320" indent="-274320">
              <a:spcBef>
                <a:spcPts val="300"/>
              </a:spcBef>
              <a:buChar char="•"/>
            </a:pPr>
            <a:r>
              <a:rPr sz="1800" b="0" i="0">
                <a:solidFill>
                  <a:srgbClr val="1A1A1A"/>
                </a:solidFill>
                <a:latin typeface="Century Gothic"/>
                <a:ea typeface="Century Gothic"/>
                <a:cs typeface="Century Gothic"/>
              </a:rPr>
              <a:t>Future researchers: larger sample, pretest and posttest, and revise the low-reliability parts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516</TotalTime>
  <Words>313</Words>
  <Application>Microsoft Office PowerPoint</Application>
  <PresentationFormat>Widescreen</PresentationFormat>
  <Paragraphs>79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Century Gothic</vt:lpstr>
      <vt:lpstr>Calibri Light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69</cp:revision>
  <cp:lastPrinted>2024-11-08T05:53:13Z</cp:lastPrinted>
  <dcterms:created xsi:type="dcterms:W3CDTF">2024-11-07T02:19:29Z</dcterms:created>
  <dcterms:modified xsi:type="dcterms:W3CDTF">2024-12-02T05:48:56Z</dcterms:modified>
</cp:coreProperties>
</file>