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panelists. We are presenting CTRL + THINK, an interactive visual novel that helps college students notice and reflect on their dependence on AI. The screenshot is the real main menu of the finished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already use AI for school. The risk is not AI itself but letting it replace thinking. Schools mostly restrict or detect AI, which does not teach awareness. Our game fills that gap for Filipino college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general objective and three specific ones: build the game, check that it supports reflection, and check that students accept it. The project also supports SDG 4 on quality education and SDG 9 on responsible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explains how people accept new technology. External variables shape perceived usefulness and ease of use. We added enjoyment and engagement because this is a game. All of these lead to attitude and then to intention to use the game as a learning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finished game. The player chooses between relying on AI and doing the work themselves. The game never lectures; it shows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follow Table 6 of the paper. The score is hidden on purpose so players choose naturally instead of chasing a number. Story changes never alter the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five of the mini games in the build. Each one trains a skill such as logic, fact-checking or focus, and each one tempts the player with an AI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in the following slides come from Chapter 4 of the paper. The questionnaire has five parts: respondent profile and AI use, system characteristics, TAM constructs, and overall learning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show the mean on a 5-point scale. Green marks the items rated Agree or higher: students strongly agree that critical thinking still matters even when AI is available (4.27), and agree that they verify AI information (3.58). Accepting AI answers without checking was the only item rated Disagree (2.50).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items reached Strongly Agree, all about the character designs and the mini games. Group means: mini games 4.33, characters 4.03, graphics 4.02, story 3.92.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Ease of use is highest because controls and navigation were clear. Usefulness is lowest, so the game can still improve at showing why independent thinking matters. Highest BI item: appropriate educational tool for AI dependency awareness (3.88). Willingness to play again (3.29) and overall satisfaction (3.40) were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statement reached Strongly Agree. The highest was thinking critically about how they use AI tools at 3.73.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conclusion matches one objective: develop the game, check its learning value, and evaluate acceptance with TAM.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about the game, the survey results or the development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30F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4641"/>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F4EFFF"/>
                </a:solidFill>
                <a:latin typeface="Orbitron" pitchFamily="34" charset="0"/>
                <a:ea typeface="Orbitron" pitchFamily="34" charset="-122"/>
                <a:cs typeface="Orbitron"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30561"/>
            <a:ext cx="10566400" cy="4414639"/>
          </a:xfrm>
          <a:prstGeom prst="rect">
            <a:avLst/>
          </a:prstGeom>
          <a:noFill/>
          <a:ln/>
        </p:spPr>
        <p:txBody>
          <a:bodyPr wrap="square" lIns="0" tIns="0" rIns="0" bIns="0" rtlCol="0" anchor="t"/>
          <a:lstStyle>
            <a:lvl1pPr algn="l" indent="0" marL="0">
              <a:lnSpc>
                <a:spcPct val="140000"/>
              </a:lnSpc>
              <a:buNone/>
              <a:defRPr lang="en-US" sz="1600" dirty="0">
                <a:solidFill>
                  <a:srgbClr val="F4EFFF"/>
                </a:solidFill>
                <a:latin typeface="Rajdhani" pitchFamily="34" charset="0"/>
                <a:ea typeface="Rajdhani" pitchFamily="34" charset="-122"/>
                <a:cs typeface="Rajdhani"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934641"/>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F4EFFF"/>
                </a:solidFill>
                <a:latin typeface="Orbitron" pitchFamily="34" charset="0"/>
                <a:ea typeface="Orbitron" pitchFamily="34" charset="-122"/>
                <a:cs typeface="Orbitron"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30561"/>
            <a:ext cx="10566400" cy="4414639"/>
          </a:xfrm>
          <a:prstGeom prst="rect">
            <a:avLst/>
          </a:prstGeom>
          <a:noFill/>
          <a:ln/>
        </p:spPr>
        <p:txBody>
          <a:bodyPr wrap="square" lIns="0" tIns="0" rIns="0" bIns="0" rtlCol="0" anchor="t"/>
          <a:lstStyle>
            <a:lvl1pPr algn="l" indent="0" marL="0">
              <a:lnSpc>
                <a:spcPct val="140000"/>
              </a:lnSpc>
              <a:buNone/>
              <a:defRPr lang="en-US" sz="1600" dirty="0">
                <a:solidFill>
                  <a:srgbClr val="F4EFFF"/>
                </a:solidFill>
                <a:latin typeface="Rajdhani" pitchFamily="34" charset="0"/>
                <a:ea typeface="Rajdhani" pitchFamily="34" charset="-122"/>
                <a:cs typeface="Rajdhan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30F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4641"/>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F4EFFF"/>
                </a:solidFill>
                <a:latin typeface="Orbitron" pitchFamily="34" charset="0"/>
                <a:ea typeface="Orbitron" pitchFamily="34" charset="-122"/>
                <a:cs typeface="Orbitron"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30561"/>
            <a:ext cx="10566400" cy="4414639"/>
          </a:xfrm>
          <a:prstGeom prst="rect">
            <a:avLst/>
          </a:prstGeom>
          <a:noFill/>
          <a:ln/>
        </p:spPr>
        <p:txBody>
          <a:bodyPr wrap="square" lIns="0" tIns="0" rIns="0" bIns="0" rtlCol="0" anchor="t"/>
          <a:lstStyle>
            <a:lvl1pPr algn="l" indent="0" marL="0">
              <a:lnSpc>
                <a:spcPct val="140000"/>
              </a:lnSpc>
              <a:buNone/>
              <a:defRPr lang="en-US" sz="1600" dirty="0">
                <a:solidFill>
                  <a:srgbClr val="F4EFFF"/>
                </a:solidFill>
                <a:latin typeface="Rajdhani" pitchFamily="34" charset="0"/>
                <a:ea typeface="Rajdhani" pitchFamily="34" charset="-122"/>
                <a:cs typeface="Rajdhani"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331218"/>
            <a:ext cx="5703316" cy="274241"/>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CBA6F7"/>
                </a:solidFill>
                <a:latin typeface="Rajdhani" pitchFamily="34" charset="0"/>
                <a:ea typeface="Rajdhani" pitchFamily="34" charset="-122"/>
                <a:cs typeface="Rajdhani" pitchFamily="34" charset="-120"/>
              </a:rPr>
              <a:t>A CAPSTONE PROJECT</a:t>
            </a:r>
            <a:endParaRPr lang="en-US" sz="1400" dirty="0"/>
          </a:p>
        </p:txBody>
      </p:sp>
      <p:sp>
        <p:nvSpPr>
          <p:cNvPr id="3" name="Text 1"/>
          <p:cNvSpPr/>
          <p:nvPr>
            <p:ph type="title"/>
          </p:nvPr>
        </p:nvSpPr>
        <p:spPr>
          <a:xfrm>
            <a:off x="812800" y="1757859"/>
            <a:ext cx="5703316"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EFFF"/>
                </a:solidFill>
                <a:latin typeface="Orbitron" pitchFamily="34" charset="0"/>
                <a:ea typeface="Orbitron" pitchFamily="34" charset="-122"/>
                <a:cs typeface="Orbitron" pitchFamily="34" charset="-120"/>
              </a:rPr>
              <a:t>CTRL +</a:t>
            </a:r>
            <a:endParaRPr lang="en-US" sz="5600" dirty="0"/>
          </a:p>
          <a:p>
            <a:pPr algn="l" indent="0" marL="0">
              <a:lnSpc>
                <a:spcPts val="5880"/>
              </a:lnSpc>
              <a:buNone/>
            </a:pPr>
            <a:r>
              <a:rPr lang="en-US" sz="5600" b="1" i="0" dirty="0">
                <a:solidFill>
                  <a:srgbClr val="F4EFFF"/>
                </a:solidFill>
                <a:latin typeface="Orbitron" pitchFamily="34" charset="0"/>
                <a:ea typeface="Orbitron" pitchFamily="34" charset="-122"/>
                <a:cs typeface="Orbitron" pitchFamily="34" charset="-120"/>
              </a:rPr>
              <a:t>THINK</a:t>
            </a:r>
            <a:endParaRPr lang="en-US" sz="5600" dirty="0"/>
          </a:p>
        </p:txBody>
      </p:sp>
      <p:sp>
        <p:nvSpPr>
          <p:cNvPr id="4" name="Text 2"/>
          <p:cNvSpPr/>
          <p:nvPr/>
        </p:nvSpPr>
        <p:spPr>
          <a:xfrm>
            <a:off x="812800" y="3429099"/>
            <a:ext cx="5703316" cy="652661"/>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DDD6EE"/>
                </a:solidFill>
                <a:latin typeface="Rajdhani" pitchFamily="34" charset="0"/>
                <a:ea typeface="Rajdhani" pitchFamily="34" charset="-122"/>
                <a:cs typeface="Rajdhani" pitchFamily="34" charset="-120"/>
              </a:rPr>
              <a:t>An Interactive Visual Novel Game Exploring AI Dependency Among College Students</a:t>
            </a:r>
            <a:endParaRPr lang="en-US" sz="1900" dirty="0"/>
          </a:p>
        </p:txBody>
      </p:sp>
      <p:pic>
        <p:nvPicPr>
          <p:cNvPr id="5" name="Image 0" descr="line">    </p:cNvPr>
          <p:cNvPicPr>
            <a:picLocks noChangeAspect="1"/>
          </p:cNvPicPr>
          <p:nvPr/>
        </p:nvPicPr>
        <p:blipFill>
          <a:blip r:embed="rId1"/>
          <a:srcRect l="0" r="0" t="0" b="0"/>
          <a:stretch/>
        </p:blipFill>
        <p:spPr>
          <a:xfrm>
            <a:off x="812800" y="4234160"/>
            <a:ext cx="1016000" cy="25400"/>
          </a:xfrm>
          <a:prstGeom prst="rect">
            <a:avLst/>
          </a:prstGeom>
        </p:spPr>
      </p:pic>
      <p:sp>
        <p:nvSpPr>
          <p:cNvPr id="6" name="Text 3"/>
          <p:cNvSpPr/>
          <p:nvPr/>
        </p:nvSpPr>
        <p:spPr>
          <a:xfrm>
            <a:off x="812800" y="4437360"/>
            <a:ext cx="570331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EFFF"/>
                </a:solidFill>
                <a:latin typeface="Rajdhani" pitchFamily="34" charset="0"/>
                <a:ea typeface="Rajdhani" pitchFamily="34" charset="-122"/>
                <a:cs typeface="Rajdhani" pitchFamily="34" charset="-120"/>
              </a:rPr>
              <a:t>John Lorence B. Amarela · Christian B. Añez · Andrei H. Caldeo</a:t>
            </a:r>
            <a:endParaRPr lang="en-US" sz="1500" dirty="0"/>
          </a:p>
        </p:txBody>
      </p:sp>
      <p:sp>
        <p:nvSpPr>
          <p:cNvPr id="7" name="Text 4"/>
          <p:cNvSpPr/>
          <p:nvPr/>
        </p:nvSpPr>
        <p:spPr>
          <a:xfrm>
            <a:off x="812800" y="4742160"/>
            <a:ext cx="570331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9FC6"/>
                </a:solidFill>
                <a:latin typeface="Rajdhani" pitchFamily="34" charset="0"/>
                <a:ea typeface="Rajdhani" pitchFamily="34" charset="-122"/>
                <a:cs typeface="Rajdhani" pitchFamily="34" charset="-120"/>
              </a:rPr>
              <a:t>Adviser: Jonalyn Joy Labayne</a:t>
            </a:r>
            <a:endParaRPr lang="en-US" sz="1400" dirty="0"/>
          </a:p>
        </p:txBody>
      </p:sp>
      <p:sp>
        <p:nvSpPr>
          <p:cNvPr id="8" name="Text 5"/>
          <p:cNvSpPr/>
          <p:nvPr/>
        </p:nvSpPr>
        <p:spPr>
          <a:xfrm>
            <a:off x="812800" y="5029101"/>
            <a:ext cx="57033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9FC6"/>
                </a:solidFill>
                <a:latin typeface="Rajdhani" pitchFamily="34" charset="0"/>
                <a:ea typeface="Rajdhani" pitchFamily="34" charset="-122"/>
                <a:cs typeface="Rajdhani" pitchFamily="34" charset="-120"/>
              </a:rPr>
              <a:t>Laguna State Polytechnic University, Los Baños Campus · BSIT, Animation and Motion Graphics</a:t>
            </a:r>
            <a:endParaRPr lang="en-US" sz="1400" dirty="0"/>
          </a:p>
        </p:txBody>
      </p:sp>
      <p:pic>
        <p:nvPicPr>
          <p:cNvPr id="9" name="Image 1" descr="The Ctrl + Think main menu with the title and Start, Continue, Extras, Chapters, Load and Settings buttons">    </p:cNvPr>
          <p:cNvPicPr>
            <a:picLocks noChangeAspect="1"/>
          </p:cNvPicPr>
          <p:nvPr/>
        </p:nvPicPr>
        <p:blipFill>
          <a:blip r:embed="rId2"/>
          <a:srcRect l="0" r="0" t="167" b="167"/>
          <a:stretch/>
        </p:blipFill>
        <p:spPr>
          <a:xfrm>
            <a:off x="6819900" y="2155825"/>
            <a:ext cx="4546600" cy="2546350"/>
          </a:xfrm>
          <a:prstGeom prst="roundRect">
            <a:avLst>
              <a:gd name="adj" fmla="val 4489"/>
            </a:avLst>
          </a:prstGeom>
        </p:spPr>
      </p:pic>
      <p:sp>
        <p:nvSpPr>
          <p:cNvPr id="10" name="Shape 6"/>
          <p:cNvSpPr/>
          <p:nvPr/>
        </p:nvSpPr>
        <p:spPr>
          <a:xfrm>
            <a:off x="6813550" y="2149475"/>
            <a:ext cx="4559300" cy="2559050"/>
          </a:xfrm>
          <a:prstGeom prst="roundRect">
            <a:avLst>
              <a:gd name="adj" fmla="val 4715"/>
            </a:avLst>
          </a:prstGeom>
          <a:noFill/>
          <a:ln w="12700">
            <a:solidFill>
              <a:srgbClr val="4B3A7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0F1F"/>
        </a:solidFill>
      </p:bgPr>
    </p:bg>
    <p:spTree>
      <p:nvGrpSpPr>
        <p:cNvPr id="1" name=""/>
        <p:cNvGrpSpPr/>
        <p:nvPr/>
      </p:nvGrpSpPr>
      <p:grpSpPr>
        <a:xfrm>
          <a:off x="0" y="0"/>
          <a:ext cx="0" cy="0"/>
          <a:chOff x="0" y="0"/>
          <a:chExt cx="0" cy="0"/>
        </a:xfrm>
      </p:grpSpPr>
      <p:sp>
        <p:nvSpPr>
          <p:cNvPr id="2" name="Text 0"/>
          <p:cNvSpPr/>
          <p:nvPr/>
        </p:nvSpPr>
        <p:spPr>
          <a:xfrm>
            <a:off x="812800" y="609600"/>
            <a:ext cx="10883392" cy="271562"/>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CBA6F7"/>
                </a:solidFill>
                <a:latin typeface="Rajdhani" pitchFamily="34" charset="0"/>
                <a:ea typeface="Rajdhani" pitchFamily="34" charset="-122"/>
                <a:cs typeface="Rajdhani" pitchFamily="34" charset="-120"/>
              </a:rPr>
              <a:t>THE PROBLEM</a:t>
            </a:r>
            <a:endParaRPr lang="en-US" sz="1400" dirty="0"/>
          </a:p>
        </p:txBody>
      </p:sp>
      <p:sp>
        <p:nvSpPr>
          <p:cNvPr id="3" name="Text 1"/>
          <p:cNvSpPr/>
          <p:nvPr>
            <p:ph type="title"/>
          </p:nvPr>
        </p:nvSpPr>
        <p:spPr>
          <a:xfrm>
            <a:off x="812800" y="931962"/>
            <a:ext cx="10883392" cy="412353"/>
          </a:xfrm>
          <a:prstGeom prst="rect">
            <a:avLst/>
          </a:prstGeom>
          <a:noFill/>
          <a:ln/>
        </p:spPr>
        <p:txBody>
          <a:bodyPr wrap="square" lIns="0" tIns="0" rIns="0" bIns="0" rtlCol="0" anchor="t">
            <a:normAutofit/>
          </a:bodyPr>
          <a:lstStyle/>
          <a:p>
            <a:pPr algn="l" indent="0" marL="0">
              <a:lnSpc>
                <a:spcPts val="3070"/>
              </a:lnSpc>
              <a:buNone/>
            </a:pPr>
            <a:r>
              <a:rPr lang="en-US" sz="2791" b="1" i="0" dirty="0">
                <a:solidFill>
                  <a:srgbClr val="F4EFFF"/>
                </a:solidFill>
                <a:latin typeface="Orbitron" pitchFamily="34" charset="0"/>
                <a:ea typeface="Orbitron" pitchFamily="34" charset="-122"/>
                <a:cs typeface="Orbitron" pitchFamily="34" charset="-120"/>
              </a:rPr>
              <a:t>Project context</a:t>
            </a:r>
            <a:endParaRPr lang="en-US" sz="2791" dirty="0"/>
          </a:p>
        </p:txBody>
      </p:sp>
      <p:sp>
        <p:nvSpPr>
          <p:cNvPr id="4" name="Shape 2"/>
          <p:cNvSpPr/>
          <p:nvPr/>
        </p:nvSpPr>
        <p:spPr>
          <a:xfrm>
            <a:off x="819150" y="1579265"/>
            <a:ext cx="3373934" cy="3090962"/>
          </a:xfrm>
          <a:prstGeom prst="roundRect">
            <a:avLst>
              <a:gd name="adj" fmla="val 3903"/>
            </a:avLst>
          </a:prstGeom>
          <a:solidFill>
            <a:srgbClr val="1D1730"/>
          </a:solidFill>
          <a:ln w="12700">
            <a:solidFill>
              <a:srgbClr val="3A2D5A"/>
            </a:solidFill>
            <a:prstDash val="solid"/>
          </a:ln>
        </p:spPr>
      </p:sp>
      <p:pic>
        <p:nvPicPr>
          <p:cNvPr id="5" name="Image 0" descr="Globe">    </p:cNvPr>
          <p:cNvPicPr>
            <a:picLocks noChangeAspect="1"/>
          </p:cNvPicPr>
          <p:nvPr/>
        </p:nvPicPr>
        <p:blipFill>
          <a:blip r:embed="rId1"/>
          <a:srcRect l="0" r="0" t="-149" b="-149"/>
          <a:stretch/>
        </p:blipFill>
        <p:spPr>
          <a:xfrm>
            <a:off x="1079500" y="1839615"/>
            <a:ext cx="406400" cy="401241"/>
          </a:xfrm>
          <a:prstGeom prst="rect">
            <a:avLst/>
          </a:prstGeom>
        </p:spPr>
      </p:pic>
      <p:sp>
        <p:nvSpPr>
          <p:cNvPr id="6" name="Text 3"/>
          <p:cNvSpPr/>
          <p:nvPr/>
        </p:nvSpPr>
        <p:spPr>
          <a:xfrm>
            <a:off x="1079500" y="2355155"/>
            <a:ext cx="2938831" cy="341313"/>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F4EFFF"/>
                </a:solidFill>
                <a:latin typeface="Rajdhani" pitchFamily="34" charset="0"/>
                <a:ea typeface="Rajdhani" pitchFamily="34" charset="-122"/>
                <a:cs typeface="Rajdhani" pitchFamily="34" charset="-120"/>
              </a:rPr>
              <a:t>AI is everywhere</a:t>
            </a:r>
            <a:endParaRPr lang="en-US" sz="2100" dirty="0"/>
          </a:p>
        </p:txBody>
      </p:sp>
      <p:sp>
        <p:nvSpPr>
          <p:cNvPr id="7" name="Text 4"/>
          <p:cNvSpPr/>
          <p:nvPr/>
        </p:nvSpPr>
        <p:spPr>
          <a:xfrm>
            <a:off x="1079500" y="2785368"/>
            <a:ext cx="2938831" cy="1649909"/>
          </a:xfrm>
          <a:prstGeom prst="rect">
            <a:avLst/>
          </a:prstGeom>
          <a:noFill/>
          <a:ln/>
        </p:spPr>
        <p:txBody>
          <a:bodyPr wrap="square" lIns="0" tIns="0" rIns="0" bIns="0" rtlCol="0" anchor="t">
            <a:normAutofit/>
          </a:bodyPr>
          <a:lstStyle/>
          <a:p>
            <a:pPr algn="l" indent="0" marL="0">
              <a:lnSpc>
                <a:spcPts val="2133"/>
              </a:lnSpc>
              <a:buNone/>
            </a:pPr>
            <a:r>
              <a:rPr lang="en-US" sz="1580" dirty="0">
                <a:solidFill>
                  <a:srgbClr val="DDD6EE"/>
                </a:solidFill>
                <a:latin typeface="Rajdhani" pitchFamily="34" charset="0"/>
                <a:ea typeface="Rajdhani" pitchFamily="34" charset="-122"/>
                <a:cs typeface="Rajdhani" pitchFamily="34" charset="-120"/>
              </a:rPr>
              <a:t>ChatGPT and Google Gemini are free to everyone. Students use them to brainstorm, summarize sources, write essays and solve problem sets, which saves time and effort.</a:t>
            </a:r>
            <a:endParaRPr lang="en-US" sz="1580" dirty="0"/>
          </a:p>
        </p:txBody>
      </p:sp>
      <p:sp>
        <p:nvSpPr>
          <p:cNvPr id="8" name="Shape 5"/>
          <p:cNvSpPr/>
          <p:nvPr/>
        </p:nvSpPr>
        <p:spPr>
          <a:xfrm>
            <a:off x="4408984" y="1579265"/>
            <a:ext cx="3374033" cy="3090962"/>
          </a:xfrm>
          <a:prstGeom prst="roundRect">
            <a:avLst>
              <a:gd name="adj" fmla="val 3903"/>
            </a:avLst>
          </a:prstGeom>
          <a:solidFill>
            <a:srgbClr val="1D1730"/>
          </a:solidFill>
          <a:ln w="12700">
            <a:solidFill>
              <a:srgbClr val="3A2D5A"/>
            </a:solidFill>
            <a:prstDash val="solid"/>
          </a:ln>
        </p:spPr>
      </p:sp>
      <p:pic>
        <p:nvPicPr>
          <p:cNvPr id="9" name="Image 1" descr="Warning">    </p:cNvPr>
          <p:cNvPicPr>
            <a:picLocks noChangeAspect="1"/>
          </p:cNvPicPr>
          <p:nvPr/>
        </p:nvPicPr>
        <p:blipFill>
          <a:blip r:embed="rId2"/>
          <a:srcRect l="0" r="0" t="0" b="0"/>
          <a:stretch/>
        </p:blipFill>
        <p:spPr>
          <a:xfrm>
            <a:off x="4669334" y="1839615"/>
            <a:ext cx="406400" cy="406400"/>
          </a:xfrm>
          <a:prstGeom prst="rect">
            <a:avLst/>
          </a:prstGeom>
        </p:spPr>
      </p:pic>
      <p:sp>
        <p:nvSpPr>
          <p:cNvPr id="10" name="Text 6"/>
          <p:cNvSpPr/>
          <p:nvPr/>
        </p:nvSpPr>
        <p:spPr>
          <a:xfrm>
            <a:off x="4669334" y="2360315"/>
            <a:ext cx="2938933"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F4EFFF"/>
                </a:solidFill>
                <a:latin typeface="Rajdhani" pitchFamily="34" charset="0"/>
                <a:ea typeface="Rajdhani" pitchFamily="34" charset="-122"/>
                <a:cs typeface="Rajdhani" pitchFamily="34" charset="-120"/>
              </a:rPr>
              <a:t>The hidden cost</a:t>
            </a:r>
            <a:endParaRPr lang="en-US" sz="2100" dirty="0"/>
          </a:p>
        </p:txBody>
      </p:sp>
      <p:sp>
        <p:nvSpPr>
          <p:cNvPr id="11" name="Text 7"/>
          <p:cNvSpPr/>
          <p:nvPr/>
        </p:nvSpPr>
        <p:spPr>
          <a:xfrm>
            <a:off x="4669334" y="2794595"/>
            <a:ext cx="2938933" cy="139660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DD6EE"/>
                </a:solidFill>
                <a:latin typeface="Rajdhani" pitchFamily="34" charset="0"/>
                <a:ea typeface="Rajdhani" pitchFamily="34" charset="-122"/>
                <a:cs typeface="Rajdhani" pitchFamily="34" charset="-120"/>
              </a:rPr>
              <a:t>Over-reliance leads to cognitive offloading. Critical thinking, creativity and analysis are not fully developed when AI does the complex thinking for the student.</a:t>
            </a:r>
            <a:endParaRPr lang="en-US" sz="1600" dirty="0"/>
          </a:p>
        </p:txBody>
      </p:sp>
      <p:sp>
        <p:nvSpPr>
          <p:cNvPr id="12" name="Shape 8"/>
          <p:cNvSpPr/>
          <p:nvPr/>
        </p:nvSpPr>
        <p:spPr>
          <a:xfrm>
            <a:off x="7998916" y="1579265"/>
            <a:ext cx="3373934" cy="3090962"/>
          </a:xfrm>
          <a:prstGeom prst="roundRect">
            <a:avLst>
              <a:gd name="adj" fmla="val 3903"/>
            </a:avLst>
          </a:prstGeom>
          <a:solidFill>
            <a:srgbClr val="1D1730"/>
          </a:solidFill>
          <a:ln w="12700">
            <a:solidFill>
              <a:srgbClr val="3A2D5A"/>
            </a:solidFill>
            <a:prstDash val="solid"/>
          </a:ln>
        </p:spPr>
      </p:sp>
      <p:pic>
        <p:nvPicPr>
          <p:cNvPr id="13" name="Image 2" descr="Search">    </p:cNvPr>
          <p:cNvPicPr>
            <a:picLocks noChangeAspect="1"/>
          </p:cNvPicPr>
          <p:nvPr/>
        </p:nvPicPr>
        <p:blipFill>
          <a:blip r:embed="rId3"/>
          <a:srcRect l="0" r="0" t="0" b="0"/>
          <a:stretch/>
        </p:blipFill>
        <p:spPr>
          <a:xfrm>
            <a:off x="8259266" y="1839615"/>
            <a:ext cx="406400" cy="406400"/>
          </a:xfrm>
          <a:prstGeom prst="rect">
            <a:avLst/>
          </a:prstGeom>
        </p:spPr>
      </p:pic>
      <p:sp>
        <p:nvSpPr>
          <p:cNvPr id="14" name="Text 9"/>
          <p:cNvSpPr/>
          <p:nvPr/>
        </p:nvSpPr>
        <p:spPr>
          <a:xfrm>
            <a:off x="8259266" y="2360315"/>
            <a:ext cx="2938831"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F4EFFF"/>
                </a:solidFill>
                <a:latin typeface="Rajdhani" pitchFamily="34" charset="0"/>
                <a:ea typeface="Rajdhani" pitchFamily="34" charset="-122"/>
                <a:cs typeface="Rajdhani" pitchFamily="34" charset="-120"/>
              </a:rPr>
              <a:t>The missing piece</a:t>
            </a:r>
            <a:endParaRPr lang="en-US" sz="2100" dirty="0"/>
          </a:p>
        </p:txBody>
      </p:sp>
      <p:sp>
        <p:nvSpPr>
          <p:cNvPr id="15" name="Text 10"/>
          <p:cNvSpPr/>
          <p:nvPr/>
        </p:nvSpPr>
        <p:spPr>
          <a:xfrm>
            <a:off x="8259266" y="2794595"/>
            <a:ext cx="2938831" cy="139660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DD6EE"/>
                </a:solidFill>
                <a:latin typeface="Rajdhani" pitchFamily="34" charset="0"/>
                <a:ea typeface="Rajdhani" pitchFamily="34" charset="-122"/>
                <a:cs typeface="Rajdhani" pitchFamily="34" charset="-120"/>
              </a:rPr>
              <a:t>Most school responses limit or detect AI use. Few tools help students see how harmful over-reliance can be, and few target Filipino college students.</a:t>
            </a:r>
            <a:endParaRPr lang="en-US" sz="1600" dirty="0"/>
          </a:p>
        </p:txBody>
      </p:sp>
      <p:sp>
        <p:nvSpPr>
          <p:cNvPr id="16" name="Shape 11"/>
          <p:cNvSpPr/>
          <p:nvPr/>
        </p:nvSpPr>
        <p:spPr>
          <a:xfrm>
            <a:off x="812800" y="4930577"/>
            <a:ext cx="10566400" cy="911423"/>
          </a:xfrm>
          <a:prstGeom prst="roundRect">
            <a:avLst>
              <a:gd name="adj" fmla="val 11147"/>
            </a:avLst>
          </a:prstGeom>
          <a:solidFill>
            <a:srgbClr val="CBA6F7"/>
          </a:solidFill>
          <a:ln/>
        </p:spPr>
      </p:sp>
      <p:sp>
        <p:nvSpPr>
          <p:cNvPr id="17" name="Text 12"/>
          <p:cNvSpPr/>
          <p:nvPr/>
        </p:nvSpPr>
        <p:spPr>
          <a:xfrm>
            <a:off x="1066800" y="5108377"/>
            <a:ext cx="10360152" cy="581223"/>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B1430"/>
                </a:solidFill>
                <a:latin typeface="Rajdhani" pitchFamily="34" charset="0"/>
                <a:ea typeface="Rajdhani" pitchFamily="34" charset="-122"/>
                <a:cs typeface="Rajdhani" pitchFamily="34" charset="-120"/>
              </a:rPr>
              <a:t>Ctrl + Think lets students feel the consequences of AI dependency in a safe, simulated story, before it affects their real grades.</a:t>
            </a:r>
            <a:endParaRPr lang="en-US" sz="1700" dirty="0"/>
          </a:p>
        </p:txBody>
      </p:sp>
      <p:sp>
        <p:nvSpPr>
          <p:cNvPr id="18"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Ctrl + Think · Capstone defense</a:t>
            </a:r>
            <a:endParaRPr lang="en-US" sz="1200" dirty="0"/>
          </a:p>
        </p:txBody>
      </p:sp>
      <p:sp>
        <p:nvSpPr>
          <p:cNvPr id="19"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C6"/>
                </a:solidFill>
                <a:latin typeface="Rajdhani" pitchFamily="34" charset="0"/>
                <a:ea typeface="Rajdhani" pitchFamily="34" charset="-122"/>
                <a:cs typeface="Rajdhani"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0F1F"/>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CBA6F7"/>
                </a:solidFill>
                <a:latin typeface="Rajdhani" pitchFamily="34" charset="0"/>
                <a:ea typeface="Rajdhani" pitchFamily="34" charset="-122"/>
                <a:cs typeface="Rajdhani" pitchFamily="34" charset="-120"/>
              </a:rPr>
              <a:t>THE PROBLEM</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4EFFF"/>
                </a:solidFill>
                <a:latin typeface="Orbitron" pitchFamily="34" charset="0"/>
                <a:ea typeface="Orbitron" pitchFamily="34" charset="-122"/>
                <a:cs typeface="Orbitron" pitchFamily="34" charset="-120"/>
              </a:rPr>
              <a:t>Objectives</a:t>
            </a:r>
            <a:endParaRPr lang="en-US" sz="2800" dirty="0"/>
          </a:p>
        </p:txBody>
      </p:sp>
      <p:sp>
        <p:nvSpPr>
          <p:cNvPr id="4" name="Text 2"/>
          <p:cNvSpPr/>
          <p:nvPr/>
        </p:nvSpPr>
        <p:spPr>
          <a:xfrm>
            <a:off x="812800" y="155436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4EFFF"/>
                </a:solidFill>
                <a:latin typeface="Rajdhani" pitchFamily="34" charset="0"/>
                <a:ea typeface="Rajdhani" pitchFamily="34" charset="-122"/>
                <a:cs typeface="Rajdhani" pitchFamily="34" charset="-120"/>
              </a:rPr>
              <a:t>General objective:</a:t>
            </a:r>
            <a:r>
              <a:rPr lang="en-US" sz="1800" dirty="0">
                <a:solidFill>
                  <a:srgbClr val="F4EFFF"/>
                </a:solidFill>
                <a:latin typeface="Rajdhani" pitchFamily="34" charset="0"/>
                <a:ea typeface="Rajdhani" pitchFamily="34" charset="-122"/>
                <a:cs typeface="Rajdhani" pitchFamily="34" charset="-120"/>
              </a:rPr>
              <a:t> develop an interactive visual novel that highlights AI dependency among college students.</a:t>
            </a:r>
            <a:endParaRPr lang="en-US" sz="1800" dirty="0"/>
          </a:p>
        </p:txBody>
      </p:sp>
      <p:sp>
        <p:nvSpPr>
          <p:cNvPr id="5" name="Shape 3"/>
          <p:cNvSpPr/>
          <p:nvPr/>
        </p:nvSpPr>
        <p:spPr>
          <a:xfrm>
            <a:off x="819150" y="2086471"/>
            <a:ext cx="3390900" cy="2724150"/>
          </a:xfrm>
          <a:prstGeom prst="roundRect">
            <a:avLst>
              <a:gd name="adj" fmla="val 4429"/>
            </a:avLst>
          </a:prstGeom>
          <a:solidFill>
            <a:srgbClr val="1D1730"/>
          </a:solidFill>
          <a:ln w="12700">
            <a:solidFill>
              <a:srgbClr val="3A2D5A"/>
            </a:solidFill>
            <a:prstDash val="solid"/>
          </a:ln>
        </p:spPr>
      </p:sp>
      <p:sp>
        <p:nvSpPr>
          <p:cNvPr id="6" name="Text 4"/>
          <p:cNvSpPr/>
          <p:nvPr/>
        </p:nvSpPr>
        <p:spPr>
          <a:xfrm>
            <a:off x="1054100" y="2321421"/>
            <a:ext cx="300863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CBA6F7"/>
                </a:solidFill>
                <a:latin typeface="Orbitron" pitchFamily="34" charset="0"/>
                <a:ea typeface="Orbitron" pitchFamily="34" charset="-122"/>
                <a:cs typeface="Orbitron" pitchFamily="34" charset="-120"/>
              </a:rPr>
              <a:t>1</a:t>
            </a:r>
            <a:endParaRPr lang="en-US" sz="3000" dirty="0"/>
          </a:p>
        </p:txBody>
      </p:sp>
      <p:sp>
        <p:nvSpPr>
          <p:cNvPr id="7" name="Text 5"/>
          <p:cNvSpPr/>
          <p:nvPr/>
        </p:nvSpPr>
        <p:spPr>
          <a:xfrm>
            <a:off x="1054100" y="2943721"/>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EFFF"/>
                </a:solidFill>
                <a:latin typeface="Rajdhani" pitchFamily="34" charset="0"/>
                <a:ea typeface="Rajdhani" pitchFamily="34" charset="-122"/>
                <a:cs typeface="Rajdhani" pitchFamily="34" charset="-120"/>
              </a:rPr>
              <a:t>Develop</a:t>
            </a:r>
            <a:endParaRPr lang="en-US" sz="2000" dirty="0"/>
          </a:p>
        </p:txBody>
      </p:sp>
      <p:sp>
        <p:nvSpPr>
          <p:cNvPr id="8" name="Text 6"/>
          <p:cNvSpPr/>
          <p:nvPr/>
        </p:nvSpPr>
        <p:spPr>
          <a:xfrm>
            <a:off x="1054100" y="3337421"/>
            <a:ext cx="3008630" cy="12636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DDD6EE"/>
                </a:solidFill>
                <a:latin typeface="Rajdhani" pitchFamily="34" charset="0"/>
                <a:ea typeface="Rajdhani" pitchFamily="34" charset="-122"/>
                <a:cs typeface="Rajdhani" pitchFamily="34" charset="-120"/>
              </a:rPr>
              <a:t>Create a visual novel that shows the process and impact of relying on AI through story branches, character interactions, player decisions and 2D graphics.</a:t>
            </a:r>
            <a:endParaRPr lang="en-US" sz="1500" dirty="0"/>
          </a:p>
        </p:txBody>
      </p:sp>
      <p:sp>
        <p:nvSpPr>
          <p:cNvPr id="9" name="Shape 7"/>
          <p:cNvSpPr/>
          <p:nvPr/>
        </p:nvSpPr>
        <p:spPr>
          <a:xfrm>
            <a:off x="4400550" y="2086471"/>
            <a:ext cx="3390900" cy="2724150"/>
          </a:xfrm>
          <a:prstGeom prst="roundRect">
            <a:avLst>
              <a:gd name="adj" fmla="val 4429"/>
            </a:avLst>
          </a:prstGeom>
          <a:solidFill>
            <a:srgbClr val="1D1730"/>
          </a:solidFill>
          <a:ln w="12700">
            <a:solidFill>
              <a:srgbClr val="3A2D5A"/>
            </a:solidFill>
            <a:prstDash val="solid"/>
          </a:ln>
        </p:spPr>
      </p:sp>
      <p:sp>
        <p:nvSpPr>
          <p:cNvPr id="10" name="Text 8"/>
          <p:cNvSpPr/>
          <p:nvPr/>
        </p:nvSpPr>
        <p:spPr>
          <a:xfrm>
            <a:off x="4635500" y="2321421"/>
            <a:ext cx="300863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CBA6F7"/>
                </a:solidFill>
                <a:latin typeface="Orbitron" pitchFamily="34" charset="0"/>
                <a:ea typeface="Orbitron" pitchFamily="34" charset="-122"/>
                <a:cs typeface="Orbitron" pitchFamily="34" charset="-120"/>
              </a:rPr>
              <a:t>2</a:t>
            </a:r>
            <a:endParaRPr lang="en-US" sz="3000" dirty="0"/>
          </a:p>
        </p:txBody>
      </p:sp>
      <p:sp>
        <p:nvSpPr>
          <p:cNvPr id="11" name="Text 9"/>
          <p:cNvSpPr/>
          <p:nvPr/>
        </p:nvSpPr>
        <p:spPr>
          <a:xfrm>
            <a:off x="4635500" y="2943721"/>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EFFF"/>
                </a:solidFill>
                <a:latin typeface="Rajdhani" pitchFamily="34" charset="0"/>
                <a:ea typeface="Rajdhani" pitchFamily="34" charset="-122"/>
                <a:cs typeface="Rajdhani" pitchFamily="34" charset="-120"/>
              </a:rPr>
              <a:t>Reflect</a:t>
            </a:r>
            <a:endParaRPr lang="en-US" sz="2000" dirty="0"/>
          </a:p>
        </p:txBody>
      </p:sp>
      <p:sp>
        <p:nvSpPr>
          <p:cNvPr id="12" name="Text 10"/>
          <p:cNvSpPr/>
          <p:nvPr/>
        </p:nvSpPr>
        <p:spPr>
          <a:xfrm>
            <a:off x="4635500" y="3337421"/>
            <a:ext cx="3008630" cy="10160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DDD6EE"/>
                </a:solidFill>
                <a:latin typeface="Rajdhani" pitchFamily="34" charset="0"/>
                <a:ea typeface="Rajdhani" pitchFamily="34" charset="-122"/>
                <a:cs typeface="Rajdhani" pitchFamily="34" charset="-120"/>
              </a:rPr>
              <a:t>Assess whether the game supports self-reflection and responsible AI use, balancing AI assistance with a student’s own thinking.</a:t>
            </a:r>
            <a:endParaRPr lang="en-US" sz="1500" dirty="0"/>
          </a:p>
        </p:txBody>
      </p:sp>
      <p:sp>
        <p:nvSpPr>
          <p:cNvPr id="13" name="Shape 11"/>
          <p:cNvSpPr/>
          <p:nvPr/>
        </p:nvSpPr>
        <p:spPr>
          <a:xfrm>
            <a:off x="7981950" y="2086471"/>
            <a:ext cx="3390900" cy="2724150"/>
          </a:xfrm>
          <a:prstGeom prst="roundRect">
            <a:avLst>
              <a:gd name="adj" fmla="val 4429"/>
            </a:avLst>
          </a:prstGeom>
          <a:solidFill>
            <a:srgbClr val="1D1730"/>
          </a:solidFill>
          <a:ln w="12700">
            <a:solidFill>
              <a:srgbClr val="3A2D5A"/>
            </a:solidFill>
            <a:prstDash val="solid"/>
          </a:ln>
        </p:spPr>
      </p:sp>
      <p:sp>
        <p:nvSpPr>
          <p:cNvPr id="14" name="Text 12"/>
          <p:cNvSpPr/>
          <p:nvPr/>
        </p:nvSpPr>
        <p:spPr>
          <a:xfrm>
            <a:off x="8216900" y="2321421"/>
            <a:ext cx="300863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CBA6F7"/>
                </a:solidFill>
                <a:latin typeface="Orbitron" pitchFamily="34" charset="0"/>
                <a:ea typeface="Orbitron" pitchFamily="34" charset="-122"/>
                <a:cs typeface="Orbitron" pitchFamily="34" charset="-120"/>
              </a:rPr>
              <a:t>3</a:t>
            </a:r>
            <a:endParaRPr lang="en-US" sz="3000" dirty="0"/>
          </a:p>
        </p:txBody>
      </p:sp>
      <p:sp>
        <p:nvSpPr>
          <p:cNvPr id="15" name="Text 13"/>
          <p:cNvSpPr/>
          <p:nvPr/>
        </p:nvSpPr>
        <p:spPr>
          <a:xfrm>
            <a:off x="8216900" y="2943721"/>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EFFF"/>
                </a:solidFill>
                <a:latin typeface="Rajdhani" pitchFamily="34" charset="0"/>
                <a:ea typeface="Rajdhani" pitchFamily="34" charset="-122"/>
                <a:cs typeface="Rajdhani" pitchFamily="34" charset="-120"/>
              </a:rPr>
              <a:t>Evaluate</a:t>
            </a:r>
            <a:endParaRPr lang="en-US" sz="2000" dirty="0"/>
          </a:p>
        </p:txBody>
      </p:sp>
      <p:sp>
        <p:nvSpPr>
          <p:cNvPr id="16" name="Text 14"/>
          <p:cNvSpPr/>
          <p:nvPr/>
        </p:nvSpPr>
        <p:spPr>
          <a:xfrm>
            <a:off x="8216900" y="3337421"/>
            <a:ext cx="3008630" cy="10160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DDD6EE"/>
                </a:solidFill>
                <a:latin typeface="Rajdhani" pitchFamily="34" charset="0"/>
                <a:ea typeface="Rajdhani" pitchFamily="34" charset="-122"/>
                <a:cs typeface="Rajdhani" pitchFamily="34" charset="-120"/>
              </a:rPr>
              <a:t>Assess usability and learning efficacy with the Technology Acceptance Model (TAM): usefulness, ease of use, enjoyment, attitude and intention.</a:t>
            </a:r>
            <a:endParaRPr lang="en-US" sz="1500" dirty="0"/>
          </a:p>
        </p:txBody>
      </p:sp>
      <p:sp>
        <p:nvSpPr>
          <p:cNvPr id="17" name="Text 15"/>
          <p:cNvSpPr/>
          <p:nvPr/>
        </p:nvSpPr>
        <p:spPr>
          <a:xfrm>
            <a:off x="812800" y="5109071"/>
            <a:ext cx="104308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9FC6"/>
                </a:solidFill>
                <a:latin typeface="Rajdhani" pitchFamily="34" charset="0"/>
                <a:ea typeface="Rajdhani" pitchFamily="34" charset="-122"/>
                <a:cs typeface="Rajdhani" pitchFamily="34" charset="-120"/>
              </a:rPr>
              <a:t>Aligned with</a:t>
            </a:r>
            <a:endParaRPr lang="en-US" sz="1400" dirty="0"/>
          </a:p>
        </p:txBody>
      </p:sp>
      <p:sp>
        <p:nvSpPr>
          <p:cNvPr id="18" name="Text 16"/>
          <p:cNvSpPr/>
          <p:nvPr/>
        </p:nvSpPr>
        <p:spPr>
          <a:xfrm>
            <a:off x="1855887" y="5045571"/>
            <a:ext cx="2158405" cy="375841"/>
          </a:xfrm>
          <a:prstGeom prst="roundRect">
            <a:avLst>
              <a:gd name="adj" fmla="val 50000"/>
            </a:avLst>
          </a:prstGeom>
          <a:solidFill>
            <a:srgbClr val="F2C179"/>
          </a:solidFill>
          <a:ln/>
        </p:spPr>
        <p:txBody>
          <a:bodyPr wrap="none" lIns="0" tIns="0" rIns="0" bIns="0" rtlCol="0" anchor="ctr">
            <a:normAutofit/>
          </a:bodyPr>
          <a:lstStyle/>
          <a:p>
            <a:pPr algn="ct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SDG 4 · Quality Education</a:t>
            </a:r>
            <a:endParaRPr lang="en-US" sz="1400" dirty="0"/>
          </a:p>
        </p:txBody>
      </p:sp>
      <p:sp>
        <p:nvSpPr>
          <p:cNvPr id="19" name="Text 17"/>
          <p:cNvSpPr/>
          <p:nvPr/>
        </p:nvSpPr>
        <p:spPr>
          <a:xfrm>
            <a:off x="4141291" y="5045571"/>
            <a:ext cx="3735784" cy="375841"/>
          </a:xfrm>
          <a:prstGeom prst="roundRect">
            <a:avLst>
              <a:gd name="adj" fmla="val 50000"/>
            </a:avLst>
          </a:prstGeom>
          <a:solidFill>
            <a:srgbClr val="F2C179"/>
          </a:solidFill>
          <a:ln/>
        </p:spPr>
        <p:txBody>
          <a:bodyPr wrap="none" lIns="0" tIns="0" rIns="0" bIns="0" rtlCol="0" anchor="ctr">
            <a:normAutofit/>
          </a:bodyPr>
          <a:lstStyle/>
          <a:p>
            <a:pPr algn="ct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SDG 9 · Industry, Innovation and Infrastructure</a:t>
            </a:r>
            <a:endParaRPr lang="en-US" sz="14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Ctrl + Think · Capstone defense</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C6"/>
                </a:solidFill>
                <a:latin typeface="Rajdhani" pitchFamily="34" charset="0"/>
                <a:ea typeface="Rajdhani" pitchFamily="34" charset="-122"/>
                <a:cs typeface="Rajdhani"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0F1F"/>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CBA6F7"/>
                </a:solidFill>
                <a:latin typeface="Rajdhani" pitchFamily="34" charset="0"/>
                <a:ea typeface="Rajdhani" pitchFamily="34" charset="-122"/>
                <a:cs typeface="Rajdhani" pitchFamily="34" charset="-120"/>
              </a:rPr>
              <a:t>THE FRAMEWORK</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4EFFF"/>
                </a:solidFill>
                <a:latin typeface="Orbitron" pitchFamily="34" charset="0"/>
                <a:ea typeface="Orbitron" pitchFamily="34" charset="-122"/>
                <a:cs typeface="Orbitron" pitchFamily="34" charset="-120"/>
              </a:rPr>
              <a:t>Technology Acceptance Model</a:t>
            </a:r>
            <a:endParaRPr lang="en-US" sz="2800" dirty="0"/>
          </a:p>
        </p:txBody>
      </p:sp>
      <p:sp>
        <p:nvSpPr>
          <p:cNvPr id="4" name="Shape 2"/>
          <p:cNvSpPr/>
          <p:nvPr/>
        </p:nvSpPr>
        <p:spPr>
          <a:xfrm>
            <a:off x="819150" y="2135981"/>
            <a:ext cx="2463800" cy="1714401"/>
          </a:xfrm>
          <a:prstGeom prst="roundRect">
            <a:avLst>
              <a:gd name="adj" fmla="val 6297"/>
            </a:avLst>
          </a:prstGeom>
          <a:solidFill>
            <a:srgbClr val="1D1730"/>
          </a:solidFill>
          <a:ln w="12700">
            <a:solidFill>
              <a:srgbClr val="CBA6F7"/>
            </a:solidFill>
            <a:prstDash val="solid"/>
          </a:ln>
        </p:spPr>
      </p:sp>
      <p:sp>
        <p:nvSpPr>
          <p:cNvPr id="5" name="Text 3"/>
          <p:cNvSpPr/>
          <p:nvPr/>
        </p:nvSpPr>
        <p:spPr>
          <a:xfrm>
            <a:off x="1003300" y="2320131"/>
            <a:ext cx="215836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EFFF"/>
                </a:solidFill>
                <a:latin typeface="Rajdhani" pitchFamily="34" charset="0"/>
                <a:ea typeface="Rajdhani" pitchFamily="34" charset="-122"/>
                <a:cs typeface="Rajdhani" pitchFamily="34" charset="-120"/>
              </a:rPr>
              <a:t>External variables</a:t>
            </a:r>
            <a:endParaRPr lang="en-US" sz="1600" dirty="0"/>
          </a:p>
        </p:txBody>
      </p:sp>
      <p:sp>
        <p:nvSpPr>
          <p:cNvPr id="6" name="Text 4"/>
          <p:cNvSpPr/>
          <p:nvPr/>
        </p:nvSpPr>
        <p:spPr>
          <a:xfrm>
            <a:off x="1003300" y="2706191"/>
            <a:ext cx="2158365"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BA6F7"/>
                </a:solidFill>
                <a:latin typeface="Rajdhani" pitchFamily="34" charset="0"/>
                <a:ea typeface="Rajdhani" pitchFamily="34" charset="-122"/>
                <a:cs typeface="Rajdhani" pitchFamily="34" charset="-120"/>
              </a:rPr>
              <a:t>System:</a:t>
            </a:r>
            <a:r>
              <a:rPr lang="en-US" sz="1300" dirty="0">
                <a:solidFill>
                  <a:srgbClr val="DDD6EE"/>
                </a:solidFill>
                <a:latin typeface="Rajdhani" pitchFamily="34" charset="0"/>
                <a:ea typeface="Rajdhani" pitchFamily="34" charset="-122"/>
                <a:cs typeface="Rajdhani" pitchFamily="34" charset="-120"/>
              </a:rPr>
              <a:t> story, characters, graphics, mini games</a:t>
            </a:r>
            <a:endParaRPr lang="en-US" sz="1300" dirty="0"/>
          </a:p>
        </p:txBody>
      </p:sp>
      <p:sp>
        <p:nvSpPr>
          <p:cNvPr id="7" name="Text 5"/>
          <p:cNvSpPr/>
          <p:nvPr/>
        </p:nvSpPr>
        <p:spPr>
          <a:xfrm>
            <a:off x="1003300" y="3237012"/>
            <a:ext cx="2158365"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BA6F7"/>
                </a:solidFill>
                <a:latin typeface="Rajdhani" pitchFamily="34" charset="0"/>
                <a:ea typeface="Rajdhani" pitchFamily="34" charset="-122"/>
                <a:cs typeface="Rajdhani" pitchFamily="34" charset="-120"/>
              </a:rPr>
              <a:t>User:</a:t>
            </a:r>
            <a:r>
              <a:rPr lang="en-US" sz="1300" dirty="0">
                <a:solidFill>
                  <a:srgbClr val="DDD6EE"/>
                </a:solidFill>
                <a:latin typeface="Rajdhani" pitchFamily="34" charset="0"/>
                <a:ea typeface="Rajdhani" pitchFamily="34" charset="-122"/>
                <a:cs typeface="Rajdhani" pitchFamily="34" charset="-120"/>
              </a:rPr>
              <a:t> profile, AI use, level of dependency</a:t>
            </a:r>
            <a:endParaRPr lang="en-US" sz="1300" dirty="0"/>
          </a:p>
        </p:txBody>
      </p:sp>
      <p:pic>
        <p:nvPicPr>
          <p:cNvPr id="8" name="Image 0" descr="arrow-right">    </p:cNvPr>
          <p:cNvPicPr>
            <a:picLocks noChangeAspect="1"/>
          </p:cNvPicPr>
          <p:nvPr/>
        </p:nvPicPr>
        <p:blipFill>
          <a:blip r:embed="rId1"/>
          <a:srcRect l="0" r="0" t="0" b="0"/>
          <a:stretch/>
        </p:blipFill>
        <p:spPr>
          <a:xfrm>
            <a:off x="3507284" y="2878832"/>
            <a:ext cx="355600" cy="228600"/>
          </a:xfrm>
          <a:prstGeom prst="rect">
            <a:avLst/>
          </a:prstGeom>
        </p:spPr>
      </p:pic>
      <p:sp>
        <p:nvSpPr>
          <p:cNvPr id="9" name="Shape 6"/>
          <p:cNvSpPr/>
          <p:nvPr/>
        </p:nvSpPr>
        <p:spPr>
          <a:xfrm>
            <a:off x="4087316" y="1560711"/>
            <a:ext cx="2400300" cy="789880"/>
          </a:xfrm>
          <a:prstGeom prst="roundRect">
            <a:avLst>
              <a:gd name="adj" fmla="val 13667"/>
            </a:avLst>
          </a:prstGeom>
          <a:solidFill>
            <a:srgbClr val="1D1730"/>
          </a:solidFill>
          <a:ln w="12700">
            <a:solidFill>
              <a:srgbClr val="CBA6F7"/>
            </a:solidFill>
            <a:prstDash val="solid"/>
          </a:ln>
        </p:spPr>
      </p:sp>
      <p:sp>
        <p:nvSpPr>
          <p:cNvPr id="10" name="Text 7"/>
          <p:cNvSpPr/>
          <p:nvPr/>
        </p:nvSpPr>
        <p:spPr>
          <a:xfrm>
            <a:off x="4246066" y="1694061"/>
            <a:ext cx="21452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EFFF"/>
                </a:solidFill>
                <a:latin typeface="Rajdhani" pitchFamily="34" charset="0"/>
                <a:ea typeface="Rajdhani" pitchFamily="34" charset="-122"/>
                <a:cs typeface="Rajdhani" pitchFamily="34" charset="-120"/>
              </a:rPr>
              <a:t>Perceived Usefulness</a:t>
            </a:r>
            <a:endParaRPr lang="en-US" sz="1500" dirty="0"/>
          </a:p>
        </p:txBody>
      </p:sp>
      <p:sp>
        <p:nvSpPr>
          <p:cNvPr id="11" name="Text 8"/>
          <p:cNvSpPr/>
          <p:nvPr/>
        </p:nvSpPr>
        <p:spPr>
          <a:xfrm>
            <a:off x="4246066" y="1986161"/>
            <a:ext cx="21452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9FC6"/>
                </a:solidFill>
                <a:latin typeface="Rajdhani" pitchFamily="34" charset="0"/>
                <a:ea typeface="Rajdhani" pitchFamily="34" charset="-122"/>
                <a:cs typeface="Rajdhani" pitchFamily="34" charset="-120"/>
              </a:rPr>
              <a:t>Does it help me reflect?</a:t>
            </a:r>
            <a:endParaRPr lang="en-US" sz="1300" dirty="0"/>
          </a:p>
        </p:txBody>
      </p:sp>
      <p:sp>
        <p:nvSpPr>
          <p:cNvPr id="12" name="Shape 9"/>
          <p:cNvSpPr/>
          <p:nvPr/>
        </p:nvSpPr>
        <p:spPr>
          <a:xfrm>
            <a:off x="4087316" y="2464891"/>
            <a:ext cx="2400300" cy="789880"/>
          </a:xfrm>
          <a:prstGeom prst="roundRect">
            <a:avLst>
              <a:gd name="adj" fmla="val 13667"/>
            </a:avLst>
          </a:prstGeom>
          <a:solidFill>
            <a:srgbClr val="1D1730"/>
          </a:solidFill>
          <a:ln w="12700">
            <a:solidFill>
              <a:srgbClr val="CBA6F7"/>
            </a:solidFill>
            <a:prstDash val="solid"/>
          </a:ln>
        </p:spPr>
      </p:sp>
      <p:sp>
        <p:nvSpPr>
          <p:cNvPr id="13" name="Text 10"/>
          <p:cNvSpPr/>
          <p:nvPr/>
        </p:nvSpPr>
        <p:spPr>
          <a:xfrm>
            <a:off x="4246066" y="2598241"/>
            <a:ext cx="21452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EFFF"/>
                </a:solidFill>
                <a:latin typeface="Rajdhani" pitchFamily="34" charset="0"/>
                <a:ea typeface="Rajdhani" pitchFamily="34" charset="-122"/>
                <a:cs typeface="Rajdhani" pitchFamily="34" charset="-120"/>
              </a:rPr>
              <a:t>Perceived Ease of Use</a:t>
            </a:r>
            <a:endParaRPr lang="en-US" sz="1500" dirty="0"/>
          </a:p>
        </p:txBody>
      </p:sp>
      <p:sp>
        <p:nvSpPr>
          <p:cNvPr id="14" name="Text 11"/>
          <p:cNvSpPr/>
          <p:nvPr/>
        </p:nvSpPr>
        <p:spPr>
          <a:xfrm>
            <a:off x="4246066" y="2890341"/>
            <a:ext cx="21452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9FC6"/>
                </a:solidFill>
                <a:latin typeface="Rajdhani" pitchFamily="34" charset="0"/>
                <a:ea typeface="Rajdhani" pitchFamily="34" charset="-122"/>
                <a:cs typeface="Rajdhani" pitchFamily="34" charset="-120"/>
              </a:rPr>
              <a:t>Is it free of effort?</a:t>
            </a:r>
            <a:endParaRPr lang="en-US" sz="1300" dirty="0"/>
          </a:p>
        </p:txBody>
      </p:sp>
      <p:sp>
        <p:nvSpPr>
          <p:cNvPr id="15" name="Shape 12"/>
          <p:cNvSpPr/>
          <p:nvPr/>
        </p:nvSpPr>
        <p:spPr>
          <a:xfrm>
            <a:off x="4087316" y="3369072"/>
            <a:ext cx="2400300" cy="1056580"/>
          </a:xfrm>
          <a:prstGeom prst="roundRect">
            <a:avLst>
              <a:gd name="adj" fmla="val 10217"/>
            </a:avLst>
          </a:prstGeom>
          <a:solidFill>
            <a:srgbClr val="1D1730"/>
          </a:solidFill>
          <a:ln w="12700">
            <a:solidFill>
              <a:srgbClr val="F2C179"/>
            </a:solidFill>
            <a:prstDash val="solid"/>
          </a:ln>
        </p:spPr>
      </p:sp>
      <p:sp>
        <p:nvSpPr>
          <p:cNvPr id="16" name="Text 13"/>
          <p:cNvSpPr/>
          <p:nvPr/>
        </p:nvSpPr>
        <p:spPr>
          <a:xfrm>
            <a:off x="4246066" y="3502422"/>
            <a:ext cx="214528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C179"/>
                </a:solidFill>
                <a:latin typeface="Rajdhani" pitchFamily="34" charset="0"/>
                <a:ea typeface="Rajdhani" pitchFamily="34" charset="-122"/>
                <a:cs typeface="Rajdhani" pitchFamily="34" charset="-120"/>
              </a:rPr>
              <a:t>Enjoyment and Engagement</a:t>
            </a:r>
            <a:endParaRPr lang="en-US" sz="1500" dirty="0"/>
          </a:p>
        </p:txBody>
      </p:sp>
      <p:sp>
        <p:nvSpPr>
          <p:cNvPr id="17" name="Text 14"/>
          <p:cNvSpPr/>
          <p:nvPr/>
        </p:nvSpPr>
        <p:spPr>
          <a:xfrm>
            <a:off x="4246066" y="4061222"/>
            <a:ext cx="21452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9FC6"/>
                </a:solidFill>
                <a:latin typeface="Rajdhani" pitchFamily="34" charset="0"/>
                <a:ea typeface="Rajdhani" pitchFamily="34" charset="-122"/>
                <a:cs typeface="Rajdhani" pitchFamily="34" charset="-120"/>
              </a:rPr>
              <a:t>Added for a game</a:t>
            </a:r>
            <a:endParaRPr lang="en-US" sz="1300" dirty="0"/>
          </a:p>
        </p:txBody>
      </p:sp>
      <p:pic>
        <p:nvPicPr>
          <p:cNvPr id="18" name="Image 1" descr="arrow-right">    </p:cNvPr>
          <p:cNvPicPr>
            <a:picLocks noChangeAspect="1"/>
          </p:cNvPicPr>
          <p:nvPr/>
        </p:nvPicPr>
        <p:blipFill>
          <a:blip r:embed="rId2"/>
          <a:srcRect l="0" r="0" t="0" b="0"/>
          <a:stretch/>
        </p:blipFill>
        <p:spPr>
          <a:xfrm>
            <a:off x="6711950" y="2878832"/>
            <a:ext cx="355600" cy="228600"/>
          </a:xfrm>
          <a:prstGeom prst="rect">
            <a:avLst/>
          </a:prstGeom>
        </p:spPr>
      </p:pic>
      <p:sp>
        <p:nvSpPr>
          <p:cNvPr id="19" name="Shape 15"/>
          <p:cNvSpPr/>
          <p:nvPr/>
        </p:nvSpPr>
        <p:spPr>
          <a:xfrm>
            <a:off x="7291884" y="2274391"/>
            <a:ext cx="1638300" cy="1437481"/>
          </a:xfrm>
          <a:prstGeom prst="roundRect">
            <a:avLst>
              <a:gd name="adj" fmla="val 7510"/>
            </a:avLst>
          </a:prstGeom>
          <a:solidFill>
            <a:srgbClr val="1D1730"/>
          </a:solidFill>
          <a:ln w="12700">
            <a:solidFill>
              <a:srgbClr val="CBA6F7"/>
            </a:solidFill>
            <a:prstDash val="solid"/>
          </a:ln>
        </p:spPr>
      </p:sp>
      <p:sp>
        <p:nvSpPr>
          <p:cNvPr id="20" name="Text 16"/>
          <p:cNvSpPr/>
          <p:nvPr/>
        </p:nvSpPr>
        <p:spPr>
          <a:xfrm>
            <a:off x="7476034" y="2458541"/>
            <a:ext cx="132080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EFFF"/>
                </a:solidFill>
                <a:latin typeface="Rajdhani" pitchFamily="34" charset="0"/>
                <a:ea typeface="Rajdhani" pitchFamily="34" charset="-122"/>
                <a:cs typeface="Rajdhani" pitchFamily="34" charset="-120"/>
              </a:rPr>
              <a:t>Attitude Toward Using</a:t>
            </a:r>
            <a:endParaRPr lang="en-US" sz="1600" dirty="0"/>
          </a:p>
        </p:txBody>
      </p:sp>
      <p:sp>
        <p:nvSpPr>
          <p:cNvPr id="21" name="Text 17"/>
          <p:cNvSpPr/>
          <p:nvPr/>
        </p:nvSpPr>
        <p:spPr>
          <a:xfrm>
            <a:off x="7476034" y="3065562"/>
            <a:ext cx="13208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9FC6"/>
                </a:solidFill>
                <a:latin typeface="Rajdhani" pitchFamily="34" charset="0"/>
                <a:ea typeface="Rajdhani" pitchFamily="34" charset="-122"/>
                <a:cs typeface="Rajdhani" pitchFamily="34" charset="-120"/>
              </a:rPr>
              <a:t>Feeling about the game</a:t>
            </a:r>
            <a:endParaRPr lang="en-US" sz="1300" dirty="0"/>
          </a:p>
        </p:txBody>
      </p:sp>
      <p:pic>
        <p:nvPicPr>
          <p:cNvPr id="22" name="Image 2" descr="arrow-right">    </p:cNvPr>
          <p:cNvPicPr>
            <a:picLocks noChangeAspect="1"/>
          </p:cNvPicPr>
          <p:nvPr/>
        </p:nvPicPr>
        <p:blipFill>
          <a:blip r:embed="rId3"/>
          <a:srcRect l="0" r="0" t="0" b="0"/>
          <a:stretch/>
        </p:blipFill>
        <p:spPr>
          <a:xfrm>
            <a:off x="9154616" y="2878832"/>
            <a:ext cx="355600" cy="228600"/>
          </a:xfrm>
          <a:prstGeom prst="rect">
            <a:avLst/>
          </a:prstGeom>
        </p:spPr>
      </p:pic>
      <p:sp>
        <p:nvSpPr>
          <p:cNvPr id="23" name="Shape 18"/>
          <p:cNvSpPr/>
          <p:nvPr/>
        </p:nvSpPr>
        <p:spPr>
          <a:xfrm>
            <a:off x="9728200" y="2280741"/>
            <a:ext cx="1651000" cy="1424781"/>
          </a:xfrm>
          <a:prstGeom prst="roundRect">
            <a:avLst>
              <a:gd name="adj" fmla="val 8022"/>
            </a:avLst>
          </a:prstGeom>
          <a:solidFill>
            <a:srgbClr val="CBA6F7"/>
          </a:solidFill>
          <a:ln/>
        </p:spPr>
      </p:sp>
      <p:sp>
        <p:nvSpPr>
          <p:cNvPr id="24" name="Text 19"/>
          <p:cNvSpPr/>
          <p:nvPr/>
        </p:nvSpPr>
        <p:spPr>
          <a:xfrm>
            <a:off x="9906000" y="2458541"/>
            <a:ext cx="134620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430"/>
                </a:solidFill>
                <a:latin typeface="Rajdhani" pitchFamily="34" charset="0"/>
                <a:ea typeface="Rajdhani" pitchFamily="34" charset="-122"/>
                <a:cs typeface="Rajdhani" pitchFamily="34" charset="-120"/>
              </a:rPr>
              <a:t>Behavioral Intention</a:t>
            </a:r>
            <a:endParaRPr lang="en-US" sz="1600" dirty="0"/>
          </a:p>
        </p:txBody>
      </p:sp>
      <p:sp>
        <p:nvSpPr>
          <p:cNvPr id="25" name="Text 20"/>
          <p:cNvSpPr/>
          <p:nvPr/>
        </p:nvSpPr>
        <p:spPr>
          <a:xfrm>
            <a:off x="9906000" y="3065562"/>
            <a:ext cx="13462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2150"/>
                </a:solidFill>
                <a:latin typeface="Rajdhani" pitchFamily="34" charset="0"/>
                <a:ea typeface="Rajdhani" pitchFamily="34" charset="-122"/>
                <a:cs typeface="Rajdhani" pitchFamily="34" charset="-120"/>
              </a:rPr>
              <a:t>Play again, recommend, accept</a:t>
            </a:r>
            <a:endParaRPr lang="en-US" sz="1300" dirty="0"/>
          </a:p>
        </p:txBody>
      </p:sp>
      <p:sp>
        <p:nvSpPr>
          <p:cNvPr id="26" name="Text 21"/>
          <p:cNvSpPr/>
          <p:nvPr/>
        </p:nvSpPr>
        <p:spPr>
          <a:xfrm>
            <a:off x="812800" y="4660602"/>
            <a:ext cx="1088339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DD6EE"/>
                </a:solidFill>
                <a:latin typeface="Rajdhani" pitchFamily="34" charset="0"/>
                <a:ea typeface="Rajdhani" pitchFamily="34" charset="-122"/>
                <a:cs typeface="Rajdhani" pitchFamily="34" charset="-120"/>
              </a:rPr>
              <a:t>Adapted from Davis (1989) and Davis et al. (1992). Because Ctrl + Think is a game, the model is extended with enjoyment and engagement. The same model guides the survey and the results.</a:t>
            </a:r>
            <a:endParaRPr lang="en-US" sz="1500" dirty="0"/>
          </a:p>
        </p:txBody>
      </p:sp>
      <p:sp>
        <p:nvSpPr>
          <p:cNvPr id="27"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Ctrl + Think · Capstone defense</a:t>
            </a:r>
            <a:endParaRPr lang="en-US" sz="1200" dirty="0"/>
          </a:p>
        </p:txBody>
      </p:sp>
      <p:sp>
        <p:nvSpPr>
          <p:cNvPr id="28"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C6"/>
                </a:solidFill>
                <a:latin typeface="Rajdhani" pitchFamily="34" charset="0"/>
                <a:ea typeface="Rajdhani" pitchFamily="34" charset="-122"/>
                <a:cs typeface="Rajdhani"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0F1F"/>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CBA6F7"/>
                </a:solidFill>
                <a:latin typeface="Rajdhani" pitchFamily="34" charset="0"/>
                <a:ea typeface="Rajdhani" pitchFamily="34" charset="-122"/>
                <a:cs typeface="Rajdhani" pitchFamily="34" charset="-120"/>
              </a:rPr>
              <a:t>THE GAME</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4EFFF"/>
                </a:solidFill>
                <a:latin typeface="Orbitron" pitchFamily="34" charset="0"/>
                <a:ea typeface="Orbitron" pitchFamily="34" charset="-122"/>
                <a:cs typeface="Orbitron" pitchFamily="34" charset="-120"/>
              </a:rPr>
              <a:t>Ctrl + Think at a glance</a:t>
            </a:r>
            <a:endParaRPr lang="en-US" sz="2800" dirty="0"/>
          </a:p>
        </p:txBody>
      </p:sp>
      <p:pic>
        <p:nvPicPr>
          <p:cNvPr id="4" name="Image 0" descr="Chapter 1 scene with Alex, Myka and Sofia in front of the school building">    </p:cNvPr>
          <p:cNvPicPr>
            <a:picLocks noChangeAspect="1"/>
          </p:cNvPicPr>
          <p:nvPr/>
        </p:nvPicPr>
        <p:blipFill>
          <a:blip r:embed="rId1"/>
          <a:srcRect l="0" r="0" t="108" b="108"/>
          <a:stretch/>
        </p:blipFill>
        <p:spPr>
          <a:xfrm>
            <a:off x="825500" y="1567061"/>
            <a:ext cx="5562600" cy="3117850"/>
          </a:xfrm>
          <a:prstGeom prst="roundRect">
            <a:avLst>
              <a:gd name="adj" fmla="val 3259"/>
            </a:avLst>
          </a:prstGeom>
        </p:spPr>
      </p:pic>
      <p:sp>
        <p:nvSpPr>
          <p:cNvPr id="5" name="Shape 2"/>
          <p:cNvSpPr/>
          <p:nvPr/>
        </p:nvSpPr>
        <p:spPr>
          <a:xfrm>
            <a:off x="819150" y="1560711"/>
            <a:ext cx="5575300" cy="3130550"/>
          </a:xfrm>
          <a:prstGeom prst="roundRect">
            <a:avLst>
              <a:gd name="adj" fmla="val 3448"/>
            </a:avLst>
          </a:prstGeom>
          <a:noFill/>
          <a:ln w="12700">
            <a:solidFill>
              <a:srgbClr val="4B3A78"/>
            </a:solidFill>
            <a:prstDash val="solid"/>
          </a:ln>
        </p:spPr>
      </p:sp>
      <p:sp>
        <p:nvSpPr>
          <p:cNvPr id="6" name="Text 3"/>
          <p:cNvSpPr/>
          <p:nvPr/>
        </p:nvSpPr>
        <p:spPr>
          <a:xfrm>
            <a:off x="812800" y="4786511"/>
            <a:ext cx="5755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Screenshot from the game: Chapter 1, Morning Chaos</a:t>
            </a:r>
            <a:endParaRPr lang="en-US" sz="1200" dirty="0"/>
          </a:p>
        </p:txBody>
      </p:sp>
      <p:sp>
        <p:nvSpPr>
          <p:cNvPr id="7" name="Text 4"/>
          <p:cNvSpPr/>
          <p:nvPr/>
        </p:nvSpPr>
        <p:spPr>
          <a:xfrm>
            <a:off x="6756400" y="1554361"/>
            <a:ext cx="4761484"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EFFF"/>
                </a:solidFill>
                <a:latin typeface="Rajdhani" pitchFamily="34" charset="0"/>
                <a:ea typeface="Rajdhani" pitchFamily="34" charset="-122"/>
                <a:cs typeface="Rajdhani" pitchFamily="34" charset="-120"/>
              </a:rPr>
              <a:t>A 2D Ren’Py visual novel where the player is a college student who decides, again and again, whether to rely on AI or on personal effort.</a:t>
            </a:r>
            <a:endParaRPr lang="en-US" sz="1600" dirty="0"/>
          </a:p>
        </p:txBody>
      </p:sp>
      <p:sp>
        <p:nvSpPr>
          <p:cNvPr id="8" name="Shape 5"/>
          <p:cNvSpPr/>
          <p:nvPr/>
        </p:nvSpPr>
        <p:spPr>
          <a:xfrm>
            <a:off x="6762750" y="2561233"/>
            <a:ext cx="2235200" cy="1051421"/>
          </a:xfrm>
          <a:prstGeom prst="roundRect">
            <a:avLst>
              <a:gd name="adj" fmla="val 9059"/>
            </a:avLst>
          </a:prstGeom>
          <a:solidFill>
            <a:srgbClr val="1D1730"/>
          </a:solidFill>
          <a:ln w="12700">
            <a:solidFill>
              <a:srgbClr val="3A2D5A"/>
            </a:solidFill>
            <a:prstDash val="solid"/>
          </a:ln>
        </p:spPr>
      </p:sp>
      <p:sp>
        <p:nvSpPr>
          <p:cNvPr id="9" name="Text 6"/>
          <p:cNvSpPr/>
          <p:nvPr/>
        </p:nvSpPr>
        <p:spPr>
          <a:xfrm>
            <a:off x="6934200" y="2707283"/>
            <a:ext cx="194906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BA6F7"/>
                </a:solidFill>
                <a:latin typeface="Orbitron" pitchFamily="34" charset="0"/>
                <a:ea typeface="Orbitron" pitchFamily="34" charset="-122"/>
                <a:cs typeface="Orbitron" pitchFamily="34" charset="-120"/>
              </a:rPr>
              <a:t>6</a:t>
            </a:r>
            <a:endParaRPr lang="en-US" sz="2800" dirty="0"/>
          </a:p>
        </p:txBody>
      </p:sp>
      <p:sp>
        <p:nvSpPr>
          <p:cNvPr id="10" name="Text 7"/>
          <p:cNvSpPr/>
          <p:nvPr/>
        </p:nvSpPr>
        <p:spPr>
          <a:xfrm>
            <a:off x="6934200" y="3217763"/>
            <a:ext cx="194906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DD6EE"/>
                </a:solidFill>
                <a:latin typeface="Rajdhani" pitchFamily="34" charset="0"/>
                <a:ea typeface="Rajdhani" pitchFamily="34" charset="-122"/>
                <a:cs typeface="Rajdhani" pitchFamily="34" charset="-120"/>
              </a:rPr>
              <a:t>Chapters plus a Free Day</a:t>
            </a:r>
            <a:endParaRPr lang="en-US" sz="1400" dirty="0"/>
          </a:p>
        </p:txBody>
      </p:sp>
      <p:sp>
        <p:nvSpPr>
          <p:cNvPr id="11" name="Shape 8"/>
          <p:cNvSpPr/>
          <p:nvPr/>
        </p:nvSpPr>
        <p:spPr>
          <a:xfrm>
            <a:off x="9137650" y="2561233"/>
            <a:ext cx="2235200" cy="1051421"/>
          </a:xfrm>
          <a:prstGeom prst="roundRect">
            <a:avLst>
              <a:gd name="adj" fmla="val 9059"/>
            </a:avLst>
          </a:prstGeom>
          <a:solidFill>
            <a:srgbClr val="1D1730"/>
          </a:solidFill>
          <a:ln w="12700">
            <a:solidFill>
              <a:srgbClr val="3A2D5A"/>
            </a:solidFill>
            <a:prstDash val="solid"/>
          </a:ln>
        </p:spPr>
      </p:sp>
      <p:sp>
        <p:nvSpPr>
          <p:cNvPr id="12" name="Text 9"/>
          <p:cNvSpPr/>
          <p:nvPr/>
        </p:nvSpPr>
        <p:spPr>
          <a:xfrm>
            <a:off x="9309100" y="2707283"/>
            <a:ext cx="194906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BA6F7"/>
                </a:solidFill>
                <a:latin typeface="Orbitron" pitchFamily="34" charset="0"/>
                <a:ea typeface="Orbitron" pitchFamily="34" charset="-122"/>
                <a:cs typeface="Orbitron" pitchFamily="34" charset="-120"/>
              </a:rPr>
              <a:t>3</a:t>
            </a:r>
            <a:endParaRPr lang="en-US" sz="2800" dirty="0"/>
          </a:p>
        </p:txBody>
      </p:sp>
      <p:sp>
        <p:nvSpPr>
          <p:cNvPr id="13" name="Text 10"/>
          <p:cNvSpPr/>
          <p:nvPr/>
        </p:nvSpPr>
        <p:spPr>
          <a:xfrm>
            <a:off x="9309100" y="3217763"/>
            <a:ext cx="194906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DD6EE"/>
                </a:solidFill>
                <a:latin typeface="Rajdhani" pitchFamily="34" charset="0"/>
                <a:ea typeface="Rajdhani" pitchFamily="34" charset="-122"/>
                <a:cs typeface="Rajdhani" pitchFamily="34" charset="-120"/>
              </a:rPr>
              <a:t>Routes and endings</a:t>
            </a:r>
            <a:endParaRPr lang="en-US" sz="1400" dirty="0"/>
          </a:p>
        </p:txBody>
      </p:sp>
      <p:sp>
        <p:nvSpPr>
          <p:cNvPr id="14" name="Shape 11"/>
          <p:cNvSpPr/>
          <p:nvPr/>
        </p:nvSpPr>
        <p:spPr>
          <a:xfrm>
            <a:off x="6762750" y="3752354"/>
            <a:ext cx="2235200" cy="1300262"/>
          </a:xfrm>
          <a:prstGeom prst="roundRect">
            <a:avLst>
              <a:gd name="adj" fmla="val 7325"/>
            </a:avLst>
          </a:prstGeom>
          <a:solidFill>
            <a:srgbClr val="1D1730"/>
          </a:solidFill>
          <a:ln w="12700">
            <a:solidFill>
              <a:srgbClr val="3A2D5A"/>
            </a:solidFill>
            <a:prstDash val="solid"/>
          </a:ln>
        </p:spPr>
      </p:sp>
      <p:sp>
        <p:nvSpPr>
          <p:cNvPr id="15" name="Text 12"/>
          <p:cNvSpPr/>
          <p:nvPr/>
        </p:nvSpPr>
        <p:spPr>
          <a:xfrm>
            <a:off x="6934200" y="3898404"/>
            <a:ext cx="194906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BA6F7"/>
                </a:solidFill>
                <a:latin typeface="Orbitron" pitchFamily="34" charset="0"/>
                <a:ea typeface="Orbitron" pitchFamily="34" charset="-122"/>
                <a:cs typeface="Orbitron" pitchFamily="34" charset="-120"/>
              </a:rPr>
              <a:t>10+</a:t>
            </a:r>
            <a:endParaRPr lang="en-US" sz="2800" dirty="0"/>
          </a:p>
        </p:txBody>
      </p:sp>
      <p:sp>
        <p:nvSpPr>
          <p:cNvPr id="16" name="Text 13"/>
          <p:cNvSpPr/>
          <p:nvPr/>
        </p:nvSpPr>
        <p:spPr>
          <a:xfrm>
            <a:off x="6934200" y="4408884"/>
            <a:ext cx="194906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DD6EE"/>
                </a:solidFill>
                <a:latin typeface="Rajdhani" pitchFamily="34" charset="0"/>
                <a:ea typeface="Rajdhani" pitchFamily="34" charset="-122"/>
                <a:cs typeface="Rajdhani" pitchFamily="34" charset="-120"/>
              </a:rPr>
              <a:t>Mini games</a:t>
            </a:r>
            <a:endParaRPr lang="en-US" sz="1400" dirty="0"/>
          </a:p>
        </p:txBody>
      </p:sp>
      <p:sp>
        <p:nvSpPr>
          <p:cNvPr id="17" name="Shape 14"/>
          <p:cNvSpPr/>
          <p:nvPr/>
        </p:nvSpPr>
        <p:spPr>
          <a:xfrm>
            <a:off x="9137650" y="3752354"/>
            <a:ext cx="2235200" cy="1300262"/>
          </a:xfrm>
          <a:prstGeom prst="roundRect">
            <a:avLst>
              <a:gd name="adj" fmla="val 7325"/>
            </a:avLst>
          </a:prstGeom>
          <a:solidFill>
            <a:srgbClr val="1D1730"/>
          </a:solidFill>
          <a:ln w="12700">
            <a:solidFill>
              <a:srgbClr val="3A2D5A"/>
            </a:solidFill>
            <a:prstDash val="solid"/>
          </a:ln>
        </p:spPr>
      </p:sp>
      <p:sp>
        <p:nvSpPr>
          <p:cNvPr id="18" name="Text 15"/>
          <p:cNvSpPr/>
          <p:nvPr/>
        </p:nvSpPr>
        <p:spPr>
          <a:xfrm>
            <a:off x="9309100" y="3898404"/>
            <a:ext cx="194906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BA6F7"/>
                </a:solidFill>
                <a:latin typeface="Orbitron" pitchFamily="34" charset="0"/>
                <a:ea typeface="Orbitron" pitchFamily="34" charset="-122"/>
                <a:cs typeface="Orbitron" pitchFamily="34" charset="-120"/>
              </a:rPr>
              <a:t>2</a:t>
            </a:r>
            <a:endParaRPr lang="en-US" sz="2800" dirty="0"/>
          </a:p>
        </p:txBody>
      </p:sp>
      <p:sp>
        <p:nvSpPr>
          <p:cNvPr id="19" name="Text 16"/>
          <p:cNvSpPr/>
          <p:nvPr/>
        </p:nvSpPr>
        <p:spPr>
          <a:xfrm>
            <a:off x="9309100" y="4408884"/>
            <a:ext cx="194906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DD6EE"/>
                </a:solidFill>
                <a:latin typeface="Rajdhani" pitchFamily="34" charset="0"/>
                <a:ea typeface="Rajdhani" pitchFamily="34" charset="-122"/>
                <a:cs typeface="Rajdhani" pitchFamily="34" charset="-120"/>
              </a:rPr>
              <a:t>Platforms: PC and Android</a:t>
            </a:r>
            <a:endParaRPr lang="en-US" sz="1400" dirty="0"/>
          </a:p>
        </p:txBody>
      </p:sp>
      <p:sp>
        <p:nvSpPr>
          <p:cNvPr id="20" name="Text 17"/>
          <p:cNvSpPr/>
          <p:nvPr/>
        </p:nvSpPr>
        <p:spPr>
          <a:xfrm>
            <a:off x="6756400" y="5236766"/>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9FC6"/>
                </a:solidFill>
                <a:latin typeface="Rajdhani" pitchFamily="34" charset="0"/>
                <a:ea typeface="Rajdhani" pitchFamily="34" charset="-122"/>
                <a:cs typeface="Rajdhani" pitchFamily="34" charset="-120"/>
              </a:rPr>
              <a:t>Dialogue is in Taglish, so it sounds like real student conversation.</a:t>
            </a:r>
            <a:endParaRPr lang="en-US" sz="1400" dirty="0"/>
          </a:p>
        </p:txBody>
      </p:sp>
      <p:sp>
        <p:nvSpPr>
          <p:cNvPr id="21"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Ctrl + Think · Capstone defense</a:t>
            </a:r>
            <a:endParaRPr lang="en-US" sz="1200" dirty="0"/>
          </a:p>
        </p:txBody>
      </p:sp>
      <p:sp>
        <p:nvSpPr>
          <p:cNvPr id="22"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C6"/>
                </a:solidFill>
                <a:latin typeface="Rajdhani" pitchFamily="34" charset="0"/>
                <a:ea typeface="Rajdhani" pitchFamily="34" charset="-122"/>
                <a:cs typeface="Rajdhani"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F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6D3FC0"/>
                </a:solidFill>
                <a:latin typeface="Rajdhani" pitchFamily="34" charset="0"/>
                <a:ea typeface="Rajdhani" pitchFamily="34" charset="-122"/>
                <a:cs typeface="Rajdhani" pitchFamily="34" charset="-120"/>
              </a:rPr>
              <a:t>THE GAME</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430"/>
                </a:solidFill>
                <a:latin typeface="Orbitron" pitchFamily="34" charset="0"/>
                <a:ea typeface="Orbitron" pitchFamily="34" charset="-122"/>
                <a:cs typeface="Orbitron" pitchFamily="34" charset="-120"/>
              </a:rPr>
              <a:t>Three routes, three endings</a:t>
            </a:r>
            <a:endParaRPr lang="en-US" sz="2800" dirty="0"/>
          </a:p>
        </p:txBody>
      </p:sp>
      <p:sp>
        <p:nvSpPr>
          <p:cNvPr id="4" name="Shape 2"/>
          <p:cNvSpPr/>
          <p:nvPr/>
        </p:nvSpPr>
        <p:spPr>
          <a:xfrm>
            <a:off x="819150" y="1560711"/>
            <a:ext cx="3390900" cy="2763044"/>
          </a:xfrm>
          <a:prstGeom prst="roundRect">
            <a:avLst>
              <a:gd name="adj" fmla="val 3907"/>
            </a:avLst>
          </a:prstGeom>
          <a:solidFill>
            <a:srgbClr val="FBF9FE"/>
          </a:solidFill>
          <a:ln w="12700">
            <a:solidFill>
              <a:srgbClr val="D9CDEF"/>
            </a:solidFill>
            <a:prstDash val="solid"/>
          </a:ln>
        </p:spPr>
      </p:sp>
      <p:sp>
        <p:nvSpPr>
          <p:cNvPr id="5" name="Text 3"/>
          <p:cNvSpPr/>
          <p:nvPr/>
        </p:nvSpPr>
        <p:spPr>
          <a:xfrm>
            <a:off x="1041400" y="1770261"/>
            <a:ext cx="30347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E8B57"/>
                </a:solidFill>
                <a:latin typeface="Rajdhani" pitchFamily="34" charset="0"/>
                <a:ea typeface="Rajdhani" pitchFamily="34" charset="-122"/>
                <a:cs typeface="Rajdhani" pitchFamily="34" charset="-120"/>
              </a:rPr>
              <a:t>ROUTE A · SCORE 0–33</a:t>
            </a:r>
            <a:endParaRPr lang="en-US" sz="1300" dirty="0"/>
          </a:p>
        </p:txBody>
      </p:sp>
      <p:sp>
        <p:nvSpPr>
          <p:cNvPr id="6" name="Text 4"/>
          <p:cNvSpPr/>
          <p:nvPr/>
        </p:nvSpPr>
        <p:spPr>
          <a:xfrm>
            <a:off x="1041400" y="2102941"/>
            <a:ext cx="3034792"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B1430"/>
                </a:solidFill>
                <a:latin typeface="Rajdhani" pitchFamily="34" charset="0"/>
                <a:ea typeface="Rajdhani" pitchFamily="34" charset="-122"/>
                <a:cs typeface="Rajdhani" pitchFamily="34" charset="-120"/>
              </a:rPr>
              <a:t>Balanced</a:t>
            </a:r>
            <a:endParaRPr lang="en-US" sz="2100" dirty="0"/>
          </a:p>
        </p:txBody>
      </p:sp>
      <p:sp>
        <p:nvSpPr>
          <p:cNvPr id="7" name="Text 5"/>
          <p:cNvSpPr/>
          <p:nvPr/>
        </p:nvSpPr>
        <p:spPr>
          <a:xfrm>
            <a:off x="1041400" y="2524522"/>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Behavior:</a:t>
            </a:r>
            <a:r>
              <a:rPr lang="en-US" sz="1400" dirty="0">
                <a:solidFill>
                  <a:srgbClr val="3D3358"/>
                </a:solidFill>
                <a:latin typeface="Rajdhani" pitchFamily="34" charset="0"/>
                <a:ea typeface="Rajdhani" pitchFamily="34" charset="-122"/>
                <a:cs typeface="Rajdhani" pitchFamily="34" charset="-120"/>
              </a:rPr>
              <a:t> Thinks first, uses AI only as support.</a:t>
            </a:r>
            <a:endParaRPr lang="en-US" sz="1400" dirty="0"/>
          </a:p>
        </p:txBody>
      </p:sp>
      <p:sp>
        <p:nvSpPr>
          <p:cNvPr id="8" name="Text 6"/>
          <p:cNvSpPr/>
          <p:nvPr/>
        </p:nvSpPr>
        <p:spPr>
          <a:xfrm>
            <a:off x="1041400" y="3088283"/>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Outcome:</a:t>
            </a:r>
            <a:r>
              <a:rPr lang="en-US" sz="1400" dirty="0">
                <a:solidFill>
                  <a:srgbClr val="3D3358"/>
                </a:solidFill>
                <a:latin typeface="Rajdhani" pitchFamily="34" charset="0"/>
                <a:ea typeface="Rajdhani" pitchFamily="34" charset="-122"/>
                <a:cs typeface="Rajdhani" pitchFamily="34" charset="-120"/>
              </a:rPr>
              <a:t> Strong grades and real understanding.</a:t>
            </a:r>
            <a:endParaRPr lang="en-US" sz="1400" dirty="0"/>
          </a:p>
        </p:txBody>
      </p:sp>
      <p:sp>
        <p:nvSpPr>
          <p:cNvPr id="9" name="Text 7"/>
          <p:cNvSpPr/>
          <p:nvPr/>
        </p:nvSpPr>
        <p:spPr>
          <a:xfrm>
            <a:off x="1041400" y="3652044"/>
            <a:ext cx="316230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Message:</a:t>
            </a:r>
            <a:r>
              <a:rPr lang="en-US" sz="1400" dirty="0">
                <a:solidFill>
                  <a:srgbClr val="3D3358"/>
                </a:solidFill>
                <a:latin typeface="Rajdhani" pitchFamily="34" charset="0"/>
                <a:ea typeface="Rajdhani" pitchFamily="34" charset="-122"/>
                <a:cs typeface="Rajdhani" pitchFamily="34" charset="-120"/>
              </a:rPr>
              <a:t> AI is a tool, not a replacement.</a:t>
            </a:r>
            <a:endParaRPr lang="en-US" sz="1400" dirty="0"/>
          </a:p>
        </p:txBody>
      </p:sp>
      <p:sp>
        <p:nvSpPr>
          <p:cNvPr id="10" name="Shape 8"/>
          <p:cNvSpPr/>
          <p:nvPr/>
        </p:nvSpPr>
        <p:spPr>
          <a:xfrm>
            <a:off x="4400550" y="1560711"/>
            <a:ext cx="3390900" cy="2763044"/>
          </a:xfrm>
          <a:prstGeom prst="roundRect">
            <a:avLst>
              <a:gd name="adj" fmla="val 3907"/>
            </a:avLst>
          </a:prstGeom>
          <a:solidFill>
            <a:srgbClr val="FBF9FE"/>
          </a:solidFill>
          <a:ln w="12700">
            <a:solidFill>
              <a:srgbClr val="D9CDEF"/>
            </a:solidFill>
            <a:prstDash val="solid"/>
          </a:ln>
        </p:spPr>
      </p:sp>
      <p:sp>
        <p:nvSpPr>
          <p:cNvPr id="11" name="Text 9"/>
          <p:cNvSpPr/>
          <p:nvPr/>
        </p:nvSpPr>
        <p:spPr>
          <a:xfrm>
            <a:off x="4622800" y="1770261"/>
            <a:ext cx="30347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670A"/>
                </a:solidFill>
                <a:latin typeface="Rajdhani" pitchFamily="34" charset="0"/>
                <a:ea typeface="Rajdhani" pitchFamily="34" charset="-122"/>
                <a:cs typeface="Rajdhani" pitchFamily="34" charset="-120"/>
              </a:rPr>
              <a:t>ROUTE B · SCORE 34–66</a:t>
            </a:r>
            <a:endParaRPr lang="en-US" sz="1300" dirty="0"/>
          </a:p>
        </p:txBody>
      </p:sp>
      <p:sp>
        <p:nvSpPr>
          <p:cNvPr id="12" name="Text 10"/>
          <p:cNvSpPr/>
          <p:nvPr/>
        </p:nvSpPr>
        <p:spPr>
          <a:xfrm>
            <a:off x="4622800" y="2102941"/>
            <a:ext cx="3034792"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B1430"/>
                </a:solidFill>
                <a:latin typeface="Rajdhani" pitchFamily="34" charset="0"/>
                <a:ea typeface="Rajdhani" pitchFamily="34" charset="-122"/>
                <a:cs typeface="Rajdhani" pitchFamily="34" charset="-120"/>
              </a:rPr>
              <a:t>Moderate</a:t>
            </a:r>
            <a:endParaRPr lang="en-US" sz="2100" dirty="0"/>
          </a:p>
        </p:txBody>
      </p:sp>
      <p:sp>
        <p:nvSpPr>
          <p:cNvPr id="13" name="Text 11"/>
          <p:cNvSpPr/>
          <p:nvPr/>
        </p:nvSpPr>
        <p:spPr>
          <a:xfrm>
            <a:off x="4622800" y="2524522"/>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Behavior:</a:t>
            </a:r>
            <a:r>
              <a:rPr lang="en-US" sz="1400" dirty="0">
                <a:solidFill>
                  <a:srgbClr val="3D3358"/>
                </a:solidFill>
                <a:latin typeface="Rajdhani" pitchFamily="34" charset="0"/>
                <a:ea typeface="Rajdhani" pitchFamily="34" charset="-122"/>
                <a:cs typeface="Rajdhani" pitchFamily="34" charset="-120"/>
              </a:rPr>
              <a:t> Mixes own effort with frequent AI shortcuts.</a:t>
            </a:r>
            <a:endParaRPr lang="en-US" sz="1400" dirty="0"/>
          </a:p>
        </p:txBody>
      </p:sp>
      <p:sp>
        <p:nvSpPr>
          <p:cNvPr id="14" name="Text 12"/>
          <p:cNvSpPr/>
          <p:nvPr/>
        </p:nvSpPr>
        <p:spPr>
          <a:xfrm>
            <a:off x="4622800" y="3088283"/>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Outcome:</a:t>
            </a:r>
            <a:r>
              <a:rPr lang="en-US" sz="1400" dirty="0">
                <a:solidFill>
                  <a:srgbClr val="3D3358"/>
                </a:solidFill>
                <a:latin typeface="Rajdhani" pitchFamily="34" charset="0"/>
                <a:ea typeface="Rajdhani" pitchFamily="34" charset="-122"/>
                <a:cs typeface="Rajdhani" pitchFamily="34" charset="-120"/>
              </a:rPr>
              <a:t> Passes, but with shaky confidence.</a:t>
            </a:r>
            <a:endParaRPr lang="en-US" sz="1400" dirty="0"/>
          </a:p>
        </p:txBody>
      </p:sp>
      <p:sp>
        <p:nvSpPr>
          <p:cNvPr id="15" name="Text 13"/>
          <p:cNvSpPr/>
          <p:nvPr/>
        </p:nvSpPr>
        <p:spPr>
          <a:xfrm>
            <a:off x="4622800" y="3652044"/>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Message:</a:t>
            </a:r>
            <a:r>
              <a:rPr lang="en-US" sz="1400" dirty="0">
                <a:solidFill>
                  <a:srgbClr val="3D3358"/>
                </a:solidFill>
                <a:latin typeface="Rajdhani" pitchFamily="34" charset="0"/>
                <a:ea typeface="Rajdhani" pitchFamily="34" charset="-122"/>
                <a:cs typeface="Rajdhani" pitchFamily="34" charset="-120"/>
              </a:rPr>
              <a:t> Leaning on AI can slowly replace your own skills.</a:t>
            </a:r>
            <a:endParaRPr lang="en-US" sz="1400" dirty="0"/>
          </a:p>
        </p:txBody>
      </p:sp>
      <p:sp>
        <p:nvSpPr>
          <p:cNvPr id="16" name="Shape 14"/>
          <p:cNvSpPr/>
          <p:nvPr/>
        </p:nvSpPr>
        <p:spPr>
          <a:xfrm>
            <a:off x="7981950" y="1560711"/>
            <a:ext cx="3390900" cy="2763044"/>
          </a:xfrm>
          <a:prstGeom prst="roundRect">
            <a:avLst>
              <a:gd name="adj" fmla="val 3907"/>
            </a:avLst>
          </a:prstGeom>
          <a:solidFill>
            <a:srgbClr val="FBF9FE"/>
          </a:solidFill>
          <a:ln w="12700">
            <a:solidFill>
              <a:srgbClr val="D9CDEF"/>
            </a:solidFill>
            <a:prstDash val="solid"/>
          </a:ln>
        </p:spPr>
      </p:sp>
      <p:sp>
        <p:nvSpPr>
          <p:cNvPr id="17" name="Text 15"/>
          <p:cNvSpPr/>
          <p:nvPr/>
        </p:nvSpPr>
        <p:spPr>
          <a:xfrm>
            <a:off x="8204200" y="1770261"/>
            <a:ext cx="30347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0392B"/>
                </a:solidFill>
                <a:latin typeface="Rajdhani" pitchFamily="34" charset="0"/>
                <a:ea typeface="Rajdhani" pitchFamily="34" charset="-122"/>
                <a:cs typeface="Rajdhani" pitchFamily="34" charset="-120"/>
              </a:rPr>
              <a:t>ROUTE C · SCORE 67–100</a:t>
            </a:r>
            <a:endParaRPr lang="en-US" sz="1300" dirty="0"/>
          </a:p>
        </p:txBody>
      </p:sp>
      <p:sp>
        <p:nvSpPr>
          <p:cNvPr id="18" name="Text 16"/>
          <p:cNvSpPr/>
          <p:nvPr/>
        </p:nvSpPr>
        <p:spPr>
          <a:xfrm>
            <a:off x="8204200" y="2102941"/>
            <a:ext cx="3034792"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B1430"/>
                </a:solidFill>
                <a:latin typeface="Rajdhani" pitchFamily="34" charset="0"/>
                <a:ea typeface="Rajdhani" pitchFamily="34" charset="-122"/>
                <a:cs typeface="Rajdhani" pitchFamily="34" charset="-120"/>
              </a:rPr>
              <a:t>High dependence</a:t>
            </a:r>
            <a:endParaRPr lang="en-US" sz="2100" dirty="0"/>
          </a:p>
        </p:txBody>
      </p:sp>
      <p:sp>
        <p:nvSpPr>
          <p:cNvPr id="19" name="Text 17"/>
          <p:cNvSpPr/>
          <p:nvPr/>
        </p:nvSpPr>
        <p:spPr>
          <a:xfrm>
            <a:off x="8204200" y="2524522"/>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Behavior:</a:t>
            </a:r>
            <a:r>
              <a:rPr lang="en-US" sz="1400" dirty="0">
                <a:solidFill>
                  <a:srgbClr val="3D3358"/>
                </a:solidFill>
                <a:latin typeface="Rajdhani" pitchFamily="34" charset="0"/>
                <a:ea typeface="Rajdhani" pitchFamily="34" charset="-122"/>
                <a:cs typeface="Rajdhani" pitchFamily="34" charset="-120"/>
              </a:rPr>
              <a:t> Lets AI do most of the thinking.</a:t>
            </a:r>
            <a:endParaRPr lang="en-US" sz="1400" dirty="0"/>
          </a:p>
        </p:txBody>
      </p:sp>
      <p:sp>
        <p:nvSpPr>
          <p:cNvPr id="20" name="Text 18"/>
          <p:cNvSpPr/>
          <p:nvPr/>
        </p:nvSpPr>
        <p:spPr>
          <a:xfrm>
            <a:off x="8204200" y="3088283"/>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Outcome:</a:t>
            </a:r>
            <a:r>
              <a:rPr lang="en-US" sz="1400" dirty="0">
                <a:solidFill>
                  <a:srgbClr val="3D3358"/>
                </a:solidFill>
                <a:latin typeface="Rajdhani" pitchFamily="34" charset="0"/>
                <a:ea typeface="Rajdhani" pitchFamily="34" charset="-122"/>
                <a:cs typeface="Rajdhani" pitchFamily="34" charset="-120"/>
              </a:rPr>
              <a:t> Fast results, but weak understanding.</a:t>
            </a:r>
            <a:endParaRPr lang="en-US" sz="1400" dirty="0"/>
          </a:p>
        </p:txBody>
      </p:sp>
      <p:sp>
        <p:nvSpPr>
          <p:cNvPr id="21" name="Text 19"/>
          <p:cNvSpPr/>
          <p:nvPr/>
        </p:nvSpPr>
        <p:spPr>
          <a:xfrm>
            <a:off x="8204200" y="3652044"/>
            <a:ext cx="303479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D3358"/>
                </a:solidFill>
                <a:latin typeface="Rajdhani" pitchFamily="34" charset="0"/>
                <a:ea typeface="Rajdhani" pitchFamily="34" charset="-122"/>
                <a:cs typeface="Rajdhani" pitchFamily="34" charset="-120"/>
              </a:rPr>
              <a:t>Message:</a:t>
            </a:r>
            <a:r>
              <a:rPr lang="en-US" sz="1400" dirty="0">
                <a:solidFill>
                  <a:srgbClr val="3D3358"/>
                </a:solidFill>
                <a:latin typeface="Rajdhani" pitchFamily="34" charset="0"/>
                <a:ea typeface="Rajdhani" pitchFamily="34" charset="-122"/>
                <a:cs typeface="Rajdhani" pitchFamily="34" charset="-120"/>
              </a:rPr>
              <a:t> Over-reliance costs learning and originality.</a:t>
            </a:r>
            <a:endParaRPr lang="en-US" sz="1400" dirty="0"/>
          </a:p>
        </p:txBody>
      </p:sp>
      <p:sp>
        <p:nvSpPr>
          <p:cNvPr id="22" name="Text 20"/>
          <p:cNvSpPr/>
          <p:nvPr/>
        </p:nvSpPr>
        <p:spPr>
          <a:xfrm>
            <a:off x="812800" y="4558705"/>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3358"/>
                </a:solidFill>
                <a:latin typeface="Rajdhani" pitchFamily="34" charset="0"/>
                <a:ea typeface="Rajdhani" pitchFamily="34" charset="-122"/>
                <a:cs typeface="Rajdhani" pitchFamily="34" charset="-120"/>
              </a:rPr>
              <a:t>A hidden dependency score rises with every AI shortcut and decides the ending. The player never sees the number while playing.</a:t>
            </a:r>
            <a:endParaRPr lang="en-US" sz="1400" dirty="0"/>
          </a:p>
        </p:txBody>
      </p:sp>
      <p:sp>
        <p:nvSpPr>
          <p:cNvPr id="23"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275"/>
                </a:solidFill>
                <a:latin typeface="Rajdhani" pitchFamily="34" charset="0"/>
                <a:ea typeface="Rajdhani" pitchFamily="34" charset="-122"/>
                <a:cs typeface="Rajdhani" pitchFamily="34" charset="-120"/>
              </a:rPr>
              <a:t>Ctrl + Think · Capstone defense</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5275"/>
                </a:solidFill>
                <a:latin typeface="Rajdhani" pitchFamily="34" charset="0"/>
                <a:ea typeface="Rajdhani" pitchFamily="34" charset="-122"/>
                <a:cs typeface="Rajdhani"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0F1F"/>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CBA6F7"/>
                </a:solidFill>
                <a:latin typeface="Rajdhani" pitchFamily="34" charset="0"/>
                <a:ea typeface="Rajdhani" pitchFamily="34" charset="-122"/>
                <a:cs typeface="Rajdhani" pitchFamily="34" charset="-120"/>
              </a:rPr>
              <a:t>THE GAME</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4EFFF"/>
                </a:solidFill>
                <a:latin typeface="Orbitron" pitchFamily="34" charset="0"/>
                <a:ea typeface="Orbitron" pitchFamily="34" charset="-122"/>
                <a:cs typeface="Orbitron" pitchFamily="34" charset="-120"/>
              </a:rPr>
              <a:t>Mini games with an AI shortcut</a:t>
            </a:r>
            <a:endParaRPr lang="en-US" sz="2800" dirty="0"/>
          </a:p>
        </p:txBody>
      </p:sp>
      <p:sp>
        <p:nvSpPr>
          <p:cNvPr id="4" name="Shape 2"/>
          <p:cNvSpPr/>
          <p:nvPr/>
        </p:nvSpPr>
        <p:spPr>
          <a:xfrm>
            <a:off x="819150" y="1535311"/>
            <a:ext cx="3416300" cy="1917700"/>
          </a:xfrm>
          <a:prstGeom prst="roundRect">
            <a:avLst>
              <a:gd name="adj" fmla="val 4967"/>
            </a:avLst>
          </a:prstGeom>
          <a:noFill/>
          <a:ln w="12700">
            <a:solidFill>
              <a:srgbClr val="4B3A78"/>
            </a:solidFill>
            <a:prstDash val="solid"/>
          </a:ln>
        </p:spPr>
      </p:sp>
      <p:pic>
        <p:nvPicPr>
          <p:cNvPr id="5" name="Image 0" descr="Morning Chaos mini game screenshot">    </p:cNvPr>
          <p:cNvPicPr>
            <a:picLocks noChangeAspect="1"/>
          </p:cNvPicPr>
          <p:nvPr/>
        </p:nvPicPr>
        <p:blipFill>
          <a:blip r:embed="rId1"/>
          <a:srcRect l="0" r="0" t="549" b="549"/>
          <a:stretch/>
        </p:blipFill>
        <p:spPr>
          <a:xfrm>
            <a:off x="825500" y="1541661"/>
            <a:ext cx="3429000" cy="1905000"/>
          </a:xfrm>
          <a:custGeom>
            <a:avLst/>
            <a:gdLst/>
            <a:ahLst/>
            <a:cxnLst/>
            <a:rect l="l" t="t" r="r" b="b"/>
            <a:pathLst>
              <a:path w="3429000" h="1905000">
                <a:moveTo>
                  <a:pt x="0" y="88900"/>
                </a:moveTo>
                <a:arcTo wR="88900" hR="88900" stAng="10800000" swAng="5400000"/>
                <a:lnTo>
                  <a:pt x="3429000" y="0"/>
                </a:lnTo>
                <a:lnTo>
                  <a:pt x="3429000" y="1905000"/>
                </a:lnTo>
                <a:lnTo>
                  <a:pt x="88900" y="1905000"/>
                </a:lnTo>
                <a:arcTo wR="88900" hR="88900" stAng="5400000" swAng="5400000"/>
                <a:close/>
              </a:path>
            </a:pathLst>
          </a:custGeom>
        </p:spPr>
      </p:pic>
      <p:sp>
        <p:nvSpPr>
          <p:cNvPr id="6" name="Text 3"/>
          <p:cNvSpPr/>
          <p:nvPr/>
        </p:nvSpPr>
        <p:spPr>
          <a:xfrm>
            <a:off x="812800" y="3032720"/>
            <a:ext cx="3429000" cy="426641"/>
          </a:xfrm>
          <a:prstGeom prst="rect">
            <a:avLst/>
          </a:prstGeom>
          <a:solidFill>
            <a:srgbClr val="130F1F">
              <a:alpha val="82000"/>
            </a:srgbClr>
          </a:solidFill>
          <a:ln/>
        </p:spPr>
        <p:txBody>
          <a:bodyPr wrap="square" lIns="114300" tIns="88900" rIns="18288" bIns="63500" rtlCol="0" anchor="t">
            <a:normAutofit/>
          </a:bodyPr>
          <a:lstStyle/>
          <a:p>
            <a:pPr algn="l" indent="0" marL="0">
              <a:lnSpc>
                <a:spcPts val="1960"/>
              </a:lnSpc>
              <a:buNone/>
            </a:pPr>
            <a:r>
              <a:rPr lang="en-US" sz="1400" b="1" dirty="0">
                <a:solidFill>
                  <a:srgbClr val="F4EFFF"/>
                </a:solidFill>
                <a:latin typeface="Rajdhani" pitchFamily="34" charset="0"/>
                <a:ea typeface="Rajdhani" pitchFamily="34" charset="-122"/>
                <a:cs typeface="Rajdhani" pitchFamily="34" charset="-120"/>
              </a:rPr>
              <a:t>Morning Chaos</a:t>
            </a:r>
            <a:endParaRPr lang="en-US" sz="1400" dirty="0"/>
          </a:p>
        </p:txBody>
      </p:sp>
      <p:sp>
        <p:nvSpPr>
          <p:cNvPr id="7" name="Shape 4"/>
          <p:cNvSpPr/>
          <p:nvPr/>
        </p:nvSpPr>
        <p:spPr>
          <a:xfrm>
            <a:off x="4248150" y="1535311"/>
            <a:ext cx="3416300" cy="1917700"/>
          </a:xfrm>
          <a:prstGeom prst="roundRect">
            <a:avLst>
              <a:gd name="adj" fmla="val 4967"/>
            </a:avLst>
          </a:prstGeom>
          <a:noFill/>
          <a:ln w="12700">
            <a:solidFill>
              <a:srgbClr val="4B3A78"/>
            </a:solidFill>
            <a:prstDash val="solid"/>
          </a:ln>
        </p:spPr>
      </p:sp>
      <p:pic>
        <p:nvPicPr>
          <p:cNvPr id="8" name="Image 1" descr="Idea Match mini game screenshot">    </p:cNvPr>
          <p:cNvPicPr>
            <a:picLocks noChangeAspect="1"/>
          </p:cNvPicPr>
          <p:nvPr/>
        </p:nvPicPr>
        <p:blipFill>
          <a:blip r:embed="rId2"/>
          <a:srcRect l="0" r="0" t="549" b="549"/>
          <a:stretch/>
        </p:blipFill>
        <p:spPr>
          <a:xfrm>
            <a:off x="4254500" y="1541661"/>
            <a:ext cx="3429000" cy="1905000"/>
          </a:xfrm>
          <a:custGeom>
            <a:avLst/>
            <a:gdLst/>
            <a:ahLst/>
            <a:cxnLst/>
            <a:rect l="l" t="t" r="r" b="b"/>
            <a:pathLst>
              <a:path w="3429000" h="1905000">
                <a:moveTo>
                  <a:pt x="0" y="88900"/>
                </a:moveTo>
                <a:arcTo wR="88900" hR="88900" stAng="10800000" swAng="5400000"/>
                <a:lnTo>
                  <a:pt x="3429000" y="0"/>
                </a:lnTo>
                <a:lnTo>
                  <a:pt x="3429000" y="1905000"/>
                </a:lnTo>
                <a:lnTo>
                  <a:pt x="88900" y="1905000"/>
                </a:lnTo>
                <a:arcTo wR="88900" hR="88900" stAng="5400000" swAng="5400000"/>
                <a:close/>
              </a:path>
            </a:pathLst>
          </a:custGeom>
        </p:spPr>
      </p:pic>
      <p:sp>
        <p:nvSpPr>
          <p:cNvPr id="9" name="Text 5"/>
          <p:cNvSpPr/>
          <p:nvPr/>
        </p:nvSpPr>
        <p:spPr>
          <a:xfrm>
            <a:off x="4241800" y="3032720"/>
            <a:ext cx="3429000" cy="426641"/>
          </a:xfrm>
          <a:prstGeom prst="rect">
            <a:avLst/>
          </a:prstGeom>
          <a:solidFill>
            <a:srgbClr val="130F1F">
              <a:alpha val="82000"/>
            </a:srgbClr>
          </a:solidFill>
          <a:ln/>
        </p:spPr>
        <p:txBody>
          <a:bodyPr wrap="square" lIns="114300" tIns="88900" rIns="18288" bIns="63500" rtlCol="0" anchor="t">
            <a:normAutofit/>
          </a:bodyPr>
          <a:lstStyle/>
          <a:p>
            <a:pPr algn="l" indent="0" marL="0">
              <a:lnSpc>
                <a:spcPts val="1960"/>
              </a:lnSpc>
              <a:buNone/>
            </a:pPr>
            <a:r>
              <a:rPr lang="en-US" sz="1400" b="1" dirty="0">
                <a:solidFill>
                  <a:srgbClr val="F4EFFF"/>
                </a:solidFill>
                <a:latin typeface="Rajdhani" pitchFamily="34" charset="0"/>
                <a:ea typeface="Rajdhani" pitchFamily="34" charset="-122"/>
                <a:cs typeface="Rajdhani" pitchFamily="34" charset="-120"/>
              </a:rPr>
              <a:t>Idea Match</a:t>
            </a:r>
            <a:endParaRPr lang="en-US" sz="1400" dirty="0"/>
          </a:p>
        </p:txBody>
      </p:sp>
      <p:sp>
        <p:nvSpPr>
          <p:cNvPr id="10" name="Shape 6"/>
          <p:cNvSpPr/>
          <p:nvPr/>
        </p:nvSpPr>
        <p:spPr>
          <a:xfrm>
            <a:off x="7677150" y="1535311"/>
            <a:ext cx="3416300" cy="1917700"/>
          </a:xfrm>
          <a:prstGeom prst="roundRect">
            <a:avLst>
              <a:gd name="adj" fmla="val 4967"/>
            </a:avLst>
          </a:prstGeom>
          <a:noFill/>
          <a:ln w="12700">
            <a:solidFill>
              <a:srgbClr val="4B3A78"/>
            </a:solidFill>
            <a:prstDash val="solid"/>
          </a:ln>
        </p:spPr>
      </p:sp>
      <p:pic>
        <p:nvPicPr>
          <p:cNvPr id="11" name="Image 2" descr="Pattern Logic mini game screenshot">    </p:cNvPr>
          <p:cNvPicPr>
            <a:picLocks noChangeAspect="1"/>
          </p:cNvPicPr>
          <p:nvPr/>
        </p:nvPicPr>
        <p:blipFill>
          <a:blip r:embed="rId3"/>
          <a:srcRect l="0" r="0" t="549" b="549"/>
          <a:stretch/>
        </p:blipFill>
        <p:spPr>
          <a:xfrm>
            <a:off x="7683500" y="1541661"/>
            <a:ext cx="3429000" cy="1905000"/>
          </a:xfrm>
          <a:custGeom>
            <a:avLst/>
            <a:gdLst/>
            <a:ahLst/>
            <a:cxnLst/>
            <a:rect l="l" t="t" r="r" b="b"/>
            <a:pathLst>
              <a:path w="3429000" h="1905000">
                <a:moveTo>
                  <a:pt x="0" y="88900"/>
                </a:moveTo>
                <a:arcTo wR="88900" hR="88900" stAng="10800000" swAng="5400000"/>
                <a:lnTo>
                  <a:pt x="3429000" y="0"/>
                </a:lnTo>
                <a:lnTo>
                  <a:pt x="3429000" y="1905000"/>
                </a:lnTo>
                <a:lnTo>
                  <a:pt x="88900" y="1905000"/>
                </a:lnTo>
                <a:arcTo wR="88900" hR="88900" stAng="5400000" swAng="5400000"/>
                <a:close/>
              </a:path>
            </a:pathLst>
          </a:custGeom>
        </p:spPr>
      </p:pic>
      <p:sp>
        <p:nvSpPr>
          <p:cNvPr id="12" name="Text 7"/>
          <p:cNvSpPr/>
          <p:nvPr/>
        </p:nvSpPr>
        <p:spPr>
          <a:xfrm>
            <a:off x="7670800" y="3032720"/>
            <a:ext cx="3429000" cy="426641"/>
          </a:xfrm>
          <a:prstGeom prst="rect">
            <a:avLst/>
          </a:prstGeom>
          <a:solidFill>
            <a:srgbClr val="130F1F">
              <a:alpha val="82000"/>
            </a:srgbClr>
          </a:solidFill>
          <a:ln/>
        </p:spPr>
        <p:txBody>
          <a:bodyPr wrap="square" lIns="114300" tIns="88900" rIns="18288" bIns="63500" rtlCol="0" anchor="t">
            <a:normAutofit/>
          </a:bodyPr>
          <a:lstStyle/>
          <a:p>
            <a:pPr algn="l" indent="0" marL="0">
              <a:lnSpc>
                <a:spcPts val="1960"/>
              </a:lnSpc>
              <a:buNone/>
            </a:pPr>
            <a:r>
              <a:rPr lang="en-US" sz="1400" b="1" dirty="0">
                <a:solidFill>
                  <a:srgbClr val="F4EFFF"/>
                </a:solidFill>
                <a:latin typeface="Rajdhani" pitchFamily="34" charset="0"/>
                <a:ea typeface="Rajdhani" pitchFamily="34" charset="-122"/>
                <a:cs typeface="Rajdhani" pitchFamily="34" charset="-120"/>
              </a:rPr>
              <a:t>Pattern Logic</a:t>
            </a:r>
            <a:endParaRPr lang="en-US" sz="1400" dirty="0"/>
          </a:p>
        </p:txBody>
      </p:sp>
      <p:sp>
        <p:nvSpPr>
          <p:cNvPr id="13" name="Shape 8"/>
          <p:cNvSpPr/>
          <p:nvPr/>
        </p:nvSpPr>
        <p:spPr>
          <a:xfrm>
            <a:off x="819150" y="3465711"/>
            <a:ext cx="3416300" cy="1917700"/>
          </a:xfrm>
          <a:prstGeom prst="roundRect">
            <a:avLst>
              <a:gd name="adj" fmla="val 4967"/>
            </a:avLst>
          </a:prstGeom>
          <a:noFill/>
          <a:ln w="12700">
            <a:solidFill>
              <a:srgbClr val="4B3A78"/>
            </a:solidFill>
            <a:prstDash val="solid"/>
          </a:ln>
        </p:spPr>
      </p:sp>
      <p:pic>
        <p:nvPicPr>
          <p:cNvPr id="14" name="Image 3" descr="Catch the Errors mini game screenshot">    </p:cNvPr>
          <p:cNvPicPr>
            <a:picLocks noChangeAspect="1"/>
          </p:cNvPicPr>
          <p:nvPr/>
        </p:nvPicPr>
        <p:blipFill>
          <a:blip r:embed="rId4"/>
          <a:srcRect l="0" r="0" t="549" b="549"/>
          <a:stretch/>
        </p:blipFill>
        <p:spPr>
          <a:xfrm>
            <a:off x="825500" y="3472061"/>
            <a:ext cx="3429000" cy="1905000"/>
          </a:xfrm>
          <a:custGeom>
            <a:avLst/>
            <a:gdLst/>
            <a:ahLst/>
            <a:cxnLst/>
            <a:rect l="l" t="t" r="r" b="b"/>
            <a:pathLst>
              <a:path w="3429000" h="1905000">
                <a:moveTo>
                  <a:pt x="0" y="88900"/>
                </a:moveTo>
                <a:arcTo wR="88900" hR="88900" stAng="10800000" swAng="5400000"/>
                <a:lnTo>
                  <a:pt x="3429000" y="0"/>
                </a:lnTo>
                <a:lnTo>
                  <a:pt x="3429000" y="1905000"/>
                </a:lnTo>
                <a:lnTo>
                  <a:pt x="88900" y="1905000"/>
                </a:lnTo>
                <a:arcTo wR="88900" hR="88900" stAng="5400000" swAng="5400000"/>
                <a:close/>
              </a:path>
            </a:pathLst>
          </a:custGeom>
        </p:spPr>
      </p:pic>
      <p:sp>
        <p:nvSpPr>
          <p:cNvPr id="15" name="Text 9"/>
          <p:cNvSpPr/>
          <p:nvPr/>
        </p:nvSpPr>
        <p:spPr>
          <a:xfrm>
            <a:off x="812800" y="4963120"/>
            <a:ext cx="3429000" cy="426641"/>
          </a:xfrm>
          <a:prstGeom prst="rect">
            <a:avLst/>
          </a:prstGeom>
          <a:solidFill>
            <a:srgbClr val="130F1F">
              <a:alpha val="82000"/>
            </a:srgbClr>
          </a:solidFill>
          <a:ln/>
        </p:spPr>
        <p:txBody>
          <a:bodyPr wrap="square" lIns="114300" tIns="88900" rIns="18288" bIns="63500" rtlCol="0" anchor="t">
            <a:normAutofit/>
          </a:bodyPr>
          <a:lstStyle/>
          <a:p>
            <a:pPr algn="l" indent="0" marL="0">
              <a:lnSpc>
                <a:spcPts val="1960"/>
              </a:lnSpc>
              <a:buNone/>
            </a:pPr>
            <a:r>
              <a:rPr lang="en-US" sz="1400" b="1" dirty="0">
                <a:solidFill>
                  <a:srgbClr val="F4EFFF"/>
                </a:solidFill>
                <a:latin typeface="Rajdhani" pitchFamily="34" charset="0"/>
                <a:ea typeface="Rajdhani" pitchFamily="34" charset="-122"/>
                <a:cs typeface="Rajdhani" pitchFamily="34" charset="-120"/>
              </a:rPr>
              <a:t>Catch the Errors</a:t>
            </a:r>
            <a:endParaRPr lang="en-US" sz="1400" dirty="0"/>
          </a:p>
        </p:txBody>
      </p:sp>
      <p:sp>
        <p:nvSpPr>
          <p:cNvPr id="16" name="Shape 10"/>
          <p:cNvSpPr/>
          <p:nvPr/>
        </p:nvSpPr>
        <p:spPr>
          <a:xfrm>
            <a:off x="4248150" y="3465711"/>
            <a:ext cx="3416300" cy="1917700"/>
          </a:xfrm>
          <a:prstGeom prst="roundRect">
            <a:avLst>
              <a:gd name="adj" fmla="val 4967"/>
            </a:avLst>
          </a:prstGeom>
          <a:noFill/>
          <a:ln w="12700">
            <a:solidFill>
              <a:srgbClr val="4B3A78"/>
            </a:solidFill>
            <a:prstDash val="solid"/>
          </a:ln>
        </p:spPr>
      </p:sp>
      <p:pic>
        <p:nvPicPr>
          <p:cNvPr id="17" name="Image 4" descr="Focus Mode mini game screenshot">    </p:cNvPr>
          <p:cNvPicPr>
            <a:picLocks noChangeAspect="1"/>
          </p:cNvPicPr>
          <p:nvPr/>
        </p:nvPicPr>
        <p:blipFill>
          <a:blip r:embed="rId5"/>
          <a:srcRect l="0" r="0" t="549" b="549"/>
          <a:stretch/>
        </p:blipFill>
        <p:spPr>
          <a:xfrm>
            <a:off x="4254500" y="3472061"/>
            <a:ext cx="3429000" cy="1905000"/>
          </a:xfrm>
          <a:custGeom>
            <a:avLst/>
            <a:gdLst/>
            <a:ahLst/>
            <a:cxnLst/>
            <a:rect l="l" t="t" r="r" b="b"/>
            <a:pathLst>
              <a:path w="3429000" h="1905000">
                <a:moveTo>
                  <a:pt x="0" y="88900"/>
                </a:moveTo>
                <a:arcTo wR="88900" hR="88900" stAng="10800000" swAng="5400000"/>
                <a:lnTo>
                  <a:pt x="3429000" y="0"/>
                </a:lnTo>
                <a:lnTo>
                  <a:pt x="3429000" y="1905000"/>
                </a:lnTo>
                <a:lnTo>
                  <a:pt x="88900" y="1905000"/>
                </a:lnTo>
                <a:arcTo wR="88900" hR="88900" stAng="5400000" swAng="5400000"/>
                <a:close/>
              </a:path>
            </a:pathLst>
          </a:custGeom>
        </p:spPr>
      </p:pic>
      <p:sp>
        <p:nvSpPr>
          <p:cNvPr id="18" name="Text 11"/>
          <p:cNvSpPr/>
          <p:nvPr/>
        </p:nvSpPr>
        <p:spPr>
          <a:xfrm>
            <a:off x="4241800" y="4963120"/>
            <a:ext cx="3429000" cy="426641"/>
          </a:xfrm>
          <a:prstGeom prst="rect">
            <a:avLst/>
          </a:prstGeom>
          <a:solidFill>
            <a:srgbClr val="130F1F">
              <a:alpha val="82000"/>
            </a:srgbClr>
          </a:solidFill>
          <a:ln/>
        </p:spPr>
        <p:txBody>
          <a:bodyPr wrap="square" lIns="114300" tIns="88900" rIns="18288" bIns="63500" rtlCol="0" anchor="t">
            <a:normAutofit/>
          </a:bodyPr>
          <a:lstStyle/>
          <a:p>
            <a:pPr algn="l" indent="0" marL="0">
              <a:lnSpc>
                <a:spcPts val="1960"/>
              </a:lnSpc>
              <a:buNone/>
            </a:pPr>
            <a:r>
              <a:rPr lang="en-US" sz="1400" b="1" dirty="0">
                <a:solidFill>
                  <a:srgbClr val="F4EFFF"/>
                </a:solidFill>
                <a:latin typeface="Rajdhani" pitchFamily="34" charset="0"/>
                <a:ea typeface="Rajdhani" pitchFamily="34" charset="-122"/>
                <a:cs typeface="Rajdhani" pitchFamily="34" charset="-120"/>
              </a:rPr>
              <a:t>Focus Mode</a:t>
            </a:r>
            <a:endParaRPr lang="en-US" sz="1400" dirty="0"/>
          </a:p>
        </p:txBody>
      </p:sp>
      <p:sp>
        <p:nvSpPr>
          <p:cNvPr id="19" name="Shape 12"/>
          <p:cNvSpPr/>
          <p:nvPr/>
        </p:nvSpPr>
        <p:spPr>
          <a:xfrm>
            <a:off x="7677150" y="3465711"/>
            <a:ext cx="3416300" cy="1917700"/>
          </a:xfrm>
          <a:prstGeom prst="roundRect">
            <a:avLst>
              <a:gd name="adj" fmla="val 4967"/>
            </a:avLst>
          </a:prstGeom>
          <a:solidFill>
            <a:srgbClr val="1D1730"/>
          </a:solidFill>
          <a:ln w="12700">
            <a:solidFill>
              <a:srgbClr val="CBA6F7"/>
            </a:solidFill>
            <a:prstDash val="solid"/>
          </a:ln>
        </p:spPr>
      </p:sp>
      <p:sp>
        <p:nvSpPr>
          <p:cNvPr id="20" name="Text 13"/>
          <p:cNvSpPr/>
          <p:nvPr/>
        </p:nvSpPr>
        <p:spPr>
          <a:xfrm>
            <a:off x="7861300" y="3925193"/>
            <a:ext cx="31394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BA6F7"/>
                </a:solidFill>
                <a:latin typeface="Rajdhani" pitchFamily="34" charset="0"/>
                <a:ea typeface="Rajdhani" pitchFamily="34" charset="-122"/>
                <a:cs typeface="Rajdhani" pitchFamily="34" charset="-120"/>
              </a:rPr>
              <a:t>Every game offers a shortcut</a:t>
            </a:r>
            <a:endParaRPr lang="en-US" sz="1500" dirty="0"/>
          </a:p>
        </p:txBody>
      </p:sp>
      <p:sp>
        <p:nvSpPr>
          <p:cNvPr id="21" name="Text 14"/>
          <p:cNvSpPr/>
          <p:nvPr/>
        </p:nvSpPr>
        <p:spPr>
          <a:xfrm>
            <a:off x="7861300" y="4255393"/>
            <a:ext cx="3139440" cy="693936"/>
          </a:xfrm>
          <a:prstGeom prst="rect">
            <a:avLst/>
          </a:prstGeom>
          <a:noFill/>
          <a:ln/>
        </p:spPr>
        <p:txBody>
          <a:bodyPr wrap="square" lIns="0" tIns="0" rIns="0" bIns="0" rtlCol="0" anchor="t">
            <a:normAutofit/>
          </a:bodyPr>
          <a:lstStyle/>
          <a:p>
            <a:pPr algn="l" indent="0" marL="0">
              <a:lnSpc>
                <a:spcPts val="1755"/>
              </a:lnSpc>
              <a:buNone/>
            </a:pPr>
            <a:r>
              <a:rPr lang="en-US" sz="1350" dirty="0">
                <a:solidFill>
                  <a:srgbClr val="DDD6EE"/>
                </a:solidFill>
                <a:latin typeface="Rajdhani" pitchFamily="34" charset="0"/>
                <a:ea typeface="Rajdhani" pitchFamily="34" charset="-122"/>
                <a:cs typeface="Rajdhani" pitchFamily="34" charset="-120"/>
              </a:rPr>
              <a:t>AI Hint, Auto-Solve, Run AI Checker or Ask AI. Taking it is easy, and it raises the hidden dependency score.</a:t>
            </a:r>
            <a:endParaRPr lang="en-US" sz="1350" dirty="0"/>
          </a:p>
        </p:txBody>
      </p:sp>
      <p:sp>
        <p:nvSpPr>
          <p:cNvPr id="22"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Ctrl + Think · Capstone defense</a:t>
            </a:r>
            <a:endParaRPr lang="en-US" sz="1200" dirty="0"/>
          </a:p>
        </p:txBody>
      </p:sp>
      <p:sp>
        <p:nvSpPr>
          <p:cNvPr id="23"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C6"/>
                </a:solidFill>
                <a:latin typeface="Rajdhani" pitchFamily="34" charset="0"/>
                <a:ea typeface="Rajdhani" pitchFamily="34" charset="-122"/>
                <a:cs typeface="Rajdhani"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0F1F"/>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CBA6F7"/>
                </a:solidFill>
                <a:latin typeface="Rajdhani" pitchFamily="34" charset="0"/>
                <a:ea typeface="Rajdhani" pitchFamily="34" charset="-122"/>
                <a:cs typeface="Rajdhani" pitchFamily="34" charset="-120"/>
              </a:rPr>
              <a:t>THE STUDY</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4EFFF"/>
                </a:solidFill>
                <a:latin typeface="Orbitron" pitchFamily="34" charset="0"/>
                <a:ea typeface="Orbitron" pitchFamily="34" charset="-122"/>
                <a:cs typeface="Orbitron" pitchFamily="34" charset="-120"/>
              </a:rPr>
              <a:t>Method</a:t>
            </a:r>
            <a:endParaRPr lang="en-US" sz="2800" dirty="0"/>
          </a:p>
        </p:txBody>
      </p:sp>
      <p:sp>
        <p:nvSpPr>
          <p:cNvPr id="4" name="Shape 2"/>
          <p:cNvSpPr/>
          <p:nvPr/>
        </p:nvSpPr>
        <p:spPr>
          <a:xfrm>
            <a:off x="819150" y="1548011"/>
            <a:ext cx="3407767" cy="1384300"/>
          </a:xfrm>
          <a:prstGeom prst="roundRect">
            <a:avLst>
              <a:gd name="adj" fmla="val 7798"/>
            </a:avLst>
          </a:prstGeom>
          <a:solidFill>
            <a:srgbClr val="1D1730"/>
          </a:solidFill>
          <a:ln w="12700">
            <a:solidFill>
              <a:srgbClr val="3A2D5A"/>
            </a:solidFill>
            <a:prstDash val="solid"/>
          </a:ln>
        </p:spPr>
      </p:sp>
      <p:sp>
        <p:nvSpPr>
          <p:cNvPr id="5" name="Text 3"/>
          <p:cNvSpPr/>
          <p:nvPr/>
        </p:nvSpPr>
        <p:spPr>
          <a:xfrm>
            <a:off x="1016000" y="1732161"/>
            <a:ext cx="3104489"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CBA6F7"/>
                </a:solidFill>
                <a:latin typeface="Orbitron" pitchFamily="34" charset="0"/>
                <a:ea typeface="Orbitron" pitchFamily="34" charset="-122"/>
                <a:cs typeface="Orbitron" pitchFamily="34" charset="-120"/>
              </a:rPr>
              <a:t>48</a:t>
            </a:r>
            <a:endParaRPr lang="en-US" sz="4000" dirty="0"/>
          </a:p>
        </p:txBody>
      </p:sp>
      <p:sp>
        <p:nvSpPr>
          <p:cNvPr id="6" name="Text 4"/>
          <p:cNvSpPr/>
          <p:nvPr/>
        </p:nvSpPr>
        <p:spPr>
          <a:xfrm>
            <a:off x="1016000" y="2481461"/>
            <a:ext cx="310448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EFFF"/>
                </a:solidFill>
                <a:latin typeface="Rajdhani" pitchFamily="34" charset="0"/>
                <a:ea typeface="Rajdhani" pitchFamily="34" charset="-122"/>
                <a:cs typeface="Rajdhani" pitchFamily="34" charset="-120"/>
              </a:rPr>
              <a:t>College student respondents</a:t>
            </a:r>
            <a:endParaRPr lang="en-US" sz="1500" dirty="0"/>
          </a:p>
        </p:txBody>
      </p:sp>
      <p:sp>
        <p:nvSpPr>
          <p:cNvPr id="7" name="Shape 5"/>
          <p:cNvSpPr/>
          <p:nvPr/>
        </p:nvSpPr>
        <p:spPr>
          <a:xfrm>
            <a:off x="4392017" y="1548011"/>
            <a:ext cx="3407866" cy="1384300"/>
          </a:xfrm>
          <a:prstGeom prst="roundRect">
            <a:avLst>
              <a:gd name="adj" fmla="val 7798"/>
            </a:avLst>
          </a:prstGeom>
          <a:solidFill>
            <a:srgbClr val="1D1730"/>
          </a:solidFill>
          <a:ln w="12700">
            <a:solidFill>
              <a:srgbClr val="3A2D5A"/>
            </a:solidFill>
            <a:prstDash val="solid"/>
          </a:ln>
        </p:spPr>
      </p:sp>
      <p:sp>
        <p:nvSpPr>
          <p:cNvPr id="8" name="Text 6"/>
          <p:cNvSpPr/>
          <p:nvPr/>
        </p:nvSpPr>
        <p:spPr>
          <a:xfrm>
            <a:off x="4588867" y="1732161"/>
            <a:ext cx="3104591"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CBA6F7"/>
                </a:solidFill>
                <a:latin typeface="Orbitron" pitchFamily="34" charset="0"/>
                <a:ea typeface="Orbitron" pitchFamily="34" charset="-122"/>
                <a:cs typeface="Orbitron" pitchFamily="34" charset="-120"/>
              </a:rPr>
              <a:t>39</a:t>
            </a:r>
            <a:endParaRPr lang="en-US" sz="4000" dirty="0"/>
          </a:p>
        </p:txBody>
      </p:sp>
      <p:sp>
        <p:nvSpPr>
          <p:cNvPr id="9" name="Text 7"/>
          <p:cNvSpPr/>
          <p:nvPr/>
        </p:nvSpPr>
        <p:spPr>
          <a:xfrm>
            <a:off x="4588867" y="2481461"/>
            <a:ext cx="310459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EFFF"/>
                </a:solidFill>
                <a:latin typeface="Rajdhani" pitchFamily="34" charset="0"/>
                <a:ea typeface="Rajdhani" pitchFamily="34" charset="-122"/>
                <a:cs typeface="Rajdhani" pitchFamily="34" charset="-120"/>
              </a:rPr>
              <a:t>Rated statements in 5 parts</a:t>
            </a:r>
            <a:endParaRPr lang="en-US" sz="1500" dirty="0"/>
          </a:p>
        </p:txBody>
      </p:sp>
      <p:sp>
        <p:nvSpPr>
          <p:cNvPr id="10" name="Shape 8"/>
          <p:cNvSpPr/>
          <p:nvPr/>
        </p:nvSpPr>
        <p:spPr>
          <a:xfrm>
            <a:off x="7964984" y="1548011"/>
            <a:ext cx="3407866" cy="1384300"/>
          </a:xfrm>
          <a:prstGeom prst="roundRect">
            <a:avLst>
              <a:gd name="adj" fmla="val 7798"/>
            </a:avLst>
          </a:prstGeom>
          <a:solidFill>
            <a:srgbClr val="1D1730"/>
          </a:solidFill>
          <a:ln w="12700">
            <a:solidFill>
              <a:srgbClr val="3A2D5A"/>
            </a:solidFill>
            <a:prstDash val="solid"/>
          </a:ln>
        </p:spPr>
      </p:sp>
      <p:sp>
        <p:nvSpPr>
          <p:cNvPr id="11" name="Text 9"/>
          <p:cNvSpPr/>
          <p:nvPr/>
        </p:nvSpPr>
        <p:spPr>
          <a:xfrm>
            <a:off x="8161834" y="1732161"/>
            <a:ext cx="3104591"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CBA6F7"/>
                </a:solidFill>
                <a:latin typeface="Orbitron" pitchFamily="34" charset="0"/>
                <a:ea typeface="Orbitron" pitchFamily="34" charset="-122"/>
                <a:cs typeface="Orbitron" pitchFamily="34" charset="-120"/>
              </a:rPr>
              <a:t>5</a:t>
            </a:r>
            <a:endParaRPr lang="en-US" sz="4000" dirty="0"/>
          </a:p>
        </p:txBody>
      </p:sp>
      <p:sp>
        <p:nvSpPr>
          <p:cNvPr id="12" name="Text 10"/>
          <p:cNvSpPr/>
          <p:nvPr/>
        </p:nvSpPr>
        <p:spPr>
          <a:xfrm>
            <a:off x="8161834" y="2481461"/>
            <a:ext cx="310459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EFFF"/>
                </a:solidFill>
                <a:latin typeface="Rajdhani" pitchFamily="34" charset="0"/>
                <a:ea typeface="Rajdhani" pitchFamily="34" charset="-122"/>
                <a:cs typeface="Rajdhani" pitchFamily="34" charset="-120"/>
              </a:rPr>
              <a:t>Point Likert scale</a:t>
            </a:r>
            <a:endParaRPr lang="en-US" sz="1500" dirty="0"/>
          </a:p>
        </p:txBody>
      </p:sp>
      <p:sp>
        <p:nvSpPr>
          <p:cNvPr id="13" name="Shape 11"/>
          <p:cNvSpPr/>
          <p:nvPr/>
        </p:nvSpPr>
        <p:spPr>
          <a:xfrm>
            <a:off x="819150" y="3160911"/>
            <a:ext cx="5194300" cy="1410891"/>
          </a:xfrm>
          <a:prstGeom prst="roundRect">
            <a:avLst>
              <a:gd name="adj" fmla="val 7651"/>
            </a:avLst>
          </a:prstGeom>
          <a:solidFill>
            <a:srgbClr val="1D1730"/>
          </a:solidFill>
          <a:ln w="12700">
            <a:solidFill>
              <a:srgbClr val="3A2D5A"/>
            </a:solidFill>
            <a:prstDash val="solid"/>
          </a:ln>
        </p:spPr>
      </p:sp>
      <p:sp>
        <p:nvSpPr>
          <p:cNvPr id="14" name="Text 12"/>
          <p:cNvSpPr/>
          <p:nvPr/>
        </p:nvSpPr>
        <p:spPr>
          <a:xfrm>
            <a:off x="1041400" y="3345061"/>
            <a:ext cx="489229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BA6F7"/>
                </a:solidFill>
                <a:latin typeface="Rajdhani" pitchFamily="34" charset="0"/>
                <a:ea typeface="Rajdhani" pitchFamily="34" charset="-122"/>
                <a:cs typeface="Rajdhani" pitchFamily="34" charset="-120"/>
              </a:rPr>
              <a:t>Design</a:t>
            </a:r>
            <a:endParaRPr lang="en-US" sz="1700" dirty="0"/>
          </a:p>
        </p:txBody>
      </p:sp>
      <p:sp>
        <p:nvSpPr>
          <p:cNvPr id="15" name="Text 13"/>
          <p:cNvSpPr/>
          <p:nvPr/>
        </p:nvSpPr>
        <p:spPr>
          <a:xfrm>
            <a:off x="1041400" y="3667621"/>
            <a:ext cx="489229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DD6EE"/>
                </a:solidFill>
                <a:latin typeface="Rajdhani" pitchFamily="34" charset="0"/>
                <a:ea typeface="Rajdhani" pitchFamily="34" charset="-122"/>
                <a:cs typeface="Rajdhani" pitchFamily="34" charset="-120"/>
              </a:rPr>
              <a:t>Descriptive, quantitative survey after respondents played the game. Answered through Google Forms, with data privacy consent.</a:t>
            </a:r>
            <a:endParaRPr lang="en-US" sz="1400" dirty="0"/>
          </a:p>
        </p:txBody>
      </p:sp>
      <p:sp>
        <p:nvSpPr>
          <p:cNvPr id="16" name="Shape 14"/>
          <p:cNvSpPr/>
          <p:nvPr/>
        </p:nvSpPr>
        <p:spPr>
          <a:xfrm>
            <a:off x="6178550" y="3160911"/>
            <a:ext cx="5194300" cy="1410891"/>
          </a:xfrm>
          <a:prstGeom prst="roundRect">
            <a:avLst>
              <a:gd name="adj" fmla="val 7651"/>
            </a:avLst>
          </a:prstGeom>
          <a:solidFill>
            <a:srgbClr val="1D1730"/>
          </a:solidFill>
          <a:ln w="12700">
            <a:solidFill>
              <a:srgbClr val="3A2D5A"/>
            </a:solidFill>
            <a:prstDash val="solid"/>
          </a:ln>
        </p:spPr>
      </p:sp>
      <p:sp>
        <p:nvSpPr>
          <p:cNvPr id="17" name="Text 15"/>
          <p:cNvSpPr/>
          <p:nvPr/>
        </p:nvSpPr>
        <p:spPr>
          <a:xfrm>
            <a:off x="6400800" y="3345061"/>
            <a:ext cx="489229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BA6F7"/>
                </a:solidFill>
                <a:latin typeface="Rajdhani" pitchFamily="34" charset="0"/>
                <a:ea typeface="Rajdhani" pitchFamily="34" charset="-122"/>
                <a:cs typeface="Rajdhani" pitchFamily="34" charset="-120"/>
              </a:rPr>
              <a:t>Analysis</a:t>
            </a:r>
            <a:endParaRPr lang="en-US" sz="1700" dirty="0"/>
          </a:p>
        </p:txBody>
      </p:sp>
      <p:sp>
        <p:nvSpPr>
          <p:cNvPr id="18" name="Text 16"/>
          <p:cNvSpPr/>
          <p:nvPr/>
        </p:nvSpPr>
        <p:spPr>
          <a:xfrm>
            <a:off x="6400800" y="3667621"/>
            <a:ext cx="489229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DD6EE"/>
                </a:solidFill>
                <a:latin typeface="Rajdhani" pitchFamily="34" charset="0"/>
                <a:ea typeface="Rajdhani" pitchFamily="34" charset="-122"/>
                <a:cs typeface="Rajdhani" pitchFamily="34" charset="-120"/>
              </a:rPr>
              <a:t>Frequency and percentage for the profile, weighted mean and standard deviation for each statement, and Cronbach’s alpha for reliability.</a:t>
            </a:r>
            <a:endParaRPr lang="en-US" sz="1400" dirty="0"/>
          </a:p>
        </p:txBody>
      </p:sp>
      <p:sp>
        <p:nvSpPr>
          <p:cNvPr id="19" name="Text 17"/>
          <p:cNvSpPr/>
          <p:nvPr/>
        </p:nvSpPr>
        <p:spPr>
          <a:xfrm>
            <a:off x="812800" y="479405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9FC6"/>
                </a:solidFill>
                <a:latin typeface="Rajdhani" pitchFamily="34" charset="0"/>
                <a:ea typeface="Rajdhani" pitchFamily="34" charset="-122"/>
                <a:cs typeface="Rajdhani" pitchFamily="34" charset="-120"/>
              </a:rPr>
              <a:t>Reading the scale: 4.21–5.00 Strongly Agree · 3.41–4.20 Agree · 2.61–3.40 Neutral</a:t>
            </a:r>
            <a:endParaRPr lang="en-US" sz="14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Ctrl + Think · Capstone defense</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C6"/>
                </a:solidFill>
                <a:latin typeface="Rajdhani" pitchFamily="34" charset="0"/>
                <a:ea typeface="Rajdhani" pitchFamily="34" charset="-122"/>
                <a:cs typeface="Rajdhani"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F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6D3FC0"/>
                </a:solidFill>
                <a:latin typeface="Rajdhani" pitchFamily="34" charset="0"/>
                <a:ea typeface="Rajdhani" pitchFamily="34" charset="-122"/>
                <a:cs typeface="Rajdhani" pitchFamily="34" charset="-120"/>
              </a:rPr>
              <a:t>THE RESULTS</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430"/>
                </a:solidFill>
                <a:latin typeface="Orbitron" pitchFamily="34" charset="0"/>
                <a:ea typeface="Orbitron" pitchFamily="34" charset="-122"/>
                <a:cs typeface="Orbitron" pitchFamily="34" charset="-120"/>
              </a:rPr>
              <a:t>Level of AI usage and dependency</a:t>
            </a:r>
            <a:endParaRPr lang="en-US" sz="2800" dirty="0"/>
          </a:p>
        </p:txBody>
      </p:sp>
      <p:sp>
        <p:nvSpPr>
          <p:cNvPr id="4" name="Shape 2"/>
          <p:cNvSpPr/>
          <p:nvPr/>
        </p:nvSpPr>
        <p:spPr>
          <a:xfrm>
            <a:off x="812800" y="1528961"/>
            <a:ext cx="2794000" cy="2656284"/>
          </a:xfrm>
          <a:prstGeom prst="roundRect">
            <a:avLst>
              <a:gd name="adj" fmla="val 4781"/>
            </a:avLst>
          </a:prstGeom>
          <a:solidFill>
            <a:srgbClr val="2A1A52"/>
          </a:solidFill>
          <a:ln/>
        </p:spPr>
      </p:sp>
      <p:sp>
        <p:nvSpPr>
          <p:cNvPr id="5" name="Text 3"/>
          <p:cNvSpPr/>
          <p:nvPr/>
        </p:nvSpPr>
        <p:spPr>
          <a:xfrm>
            <a:off x="1041400" y="1757561"/>
            <a:ext cx="2406904"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BA6F7"/>
                </a:solidFill>
                <a:latin typeface="Rajdhani" pitchFamily="34" charset="0"/>
                <a:ea typeface="Rajdhani" pitchFamily="34" charset="-122"/>
                <a:cs typeface="Rajdhani" pitchFamily="34" charset="-120"/>
              </a:rPr>
              <a:t>COMPOSITE MEAN</a:t>
            </a:r>
            <a:endParaRPr lang="en-US" sz="1300" dirty="0"/>
          </a:p>
        </p:txBody>
      </p:sp>
      <p:sp>
        <p:nvSpPr>
          <p:cNvPr id="6" name="Text 4"/>
          <p:cNvSpPr/>
          <p:nvPr/>
        </p:nvSpPr>
        <p:spPr>
          <a:xfrm>
            <a:off x="1041400" y="2052141"/>
            <a:ext cx="240690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FFFF"/>
                </a:solidFill>
                <a:latin typeface="Orbitron" pitchFamily="34" charset="0"/>
                <a:ea typeface="Orbitron" pitchFamily="34" charset="-122"/>
                <a:cs typeface="Orbitron" pitchFamily="34" charset="-120"/>
              </a:rPr>
              <a:t>3.12</a:t>
            </a:r>
            <a:endParaRPr lang="en-US" sz="6000" dirty="0"/>
          </a:p>
        </p:txBody>
      </p:sp>
      <p:sp>
        <p:nvSpPr>
          <p:cNvPr id="7" name="Text 5"/>
          <p:cNvSpPr/>
          <p:nvPr/>
        </p:nvSpPr>
        <p:spPr>
          <a:xfrm>
            <a:off x="1041400" y="2877641"/>
            <a:ext cx="240690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BA6F7"/>
                </a:solidFill>
                <a:latin typeface="Rajdhani" pitchFamily="34" charset="0"/>
                <a:ea typeface="Rajdhani" pitchFamily="34" charset="-122"/>
                <a:cs typeface="Rajdhani" pitchFamily="34" charset="-120"/>
              </a:rPr>
              <a:t>Neutral · moderate</a:t>
            </a:r>
            <a:endParaRPr lang="en-US" sz="1700" dirty="0"/>
          </a:p>
        </p:txBody>
      </p:sp>
      <p:sp>
        <p:nvSpPr>
          <p:cNvPr id="8" name="Text 6"/>
          <p:cNvSpPr/>
          <p:nvPr/>
        </p:nvSpPr>
        <p:spPr>
          <a:xfrm>
            <a:off x="1041400" y="3243362"/>
            <a:ext cx="2406904"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DD6EE"/>
                </a:solidFill>
                <a:latin typeface="Rajdhani" pitchFamily="34" charset="0"/>
                <a:ea typeface="Rajdhani" pitchFamily="34" charset="-122"/>
                <a:cs typeface="Rajdhani" pitchFamily="34" charset="-120"/>
              </a:rPr>
              <a:t>SD = 0.85. Respondents neither agreed nor disagreed that they rely heavily on AI.</a:t>
            </a:r>
            <a:endParaRPr lang="en-US" sz="1300" dirty="0"/>
          </a:p>
        </p:txBody>
      </p:sp>
      <p:sp>
        <p:nvSpPr>
          <p:cNvPr id="9" name="Shape 7"/>
          <p:cNvSpPr/>
          <p:nvPr/>
        </p:nvSpPr>
        <p:spPr>
          <a:xfrm>
            <a:off x="3816350" y="1535311"/>
            <a:ext cx="7556500" cy="2643584"/>
          </a:xfrm>
          <a:prstGeom prst="roundRect">
            <a:avLst>
              <a:gd name="adj" fmla="val 4083"/>
            </a:avLst>
          </a:prstGeom>
          <a:solidFill>
            <a:srgbClr val="FBF9FE"/>
          </a:solidFill>
          <a:ln w="12700">
            <a:solidFill>
              <a:srgbClr val="D9CDEF"/>
            </a:solidFill>
            <a:prstDash val="solid"/>
          </a:ln>
        </p:spPr>
      </p:sp>
      <p:sp>
        <p:nvSpPr>
          <p:cNvPr id="10" name="Text 8"/>
          <p:cNvSpPr/>
          <p:nvPr/>
        </p:nvSpPr>
        <p:spPr>
          <a:xfrm>
            <a:off x="4038600" y="1748929"/>
            <a:ext cx="235458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Rely on AI for academic tasks</a:t>
            </a:r>
            <a:endParaRPr lang="en-US" sz="1300" dirty="0"/>
          </a:p>
        </p:txBody>
      </p:sp>
      <p:sp>
        <p:nvSpPr>
          <p:cNvPr id="11" name="Shape 9"/>
          <p:cNvSpPr/>
          <p:nvPr/>
        </p:nvSpPr>
        <p:spPr>
          <a:xfrm>
            <a:off x="6426200" y="1761331"/>
            <a:ext cx="3302000" cy="165100"/>
          </a:xfrm>
          <a:prstGeom prst="roundRect">
            <a:avLst>
              <a:gd name="adj" fmla="val 50000"/>
            </a:avLst>
          </a:prstGeom>
          <a:solidFill>
            <a:srgbClr val="DDD2F0"/>
          </a:solidFill>
          <a:ln/>
        </p:spPr>
      </p:sp>
      <p:sp>
        <p:nvSpPr>
          <p:cNvPr id="12" name="Shape 10"/>
          <p:cNvSpPr/>
          <p:nvPr/>
        </p:nvSpPr>
        <p:spPr>
          <a:xfrm>
            <a:off x="6426200" y="1761331"/>
            <a:ext cx="1941576" cy="165100"/>
          </a:xfrm>
          <a:prstGeom prst="roundRect">
            <a:avLst>
              <a:gd name="adj" fmla="val 50000"/>
            </a:avLst>
          </a:prstGeom>
          <a:solidFill>
            <a:srgbClr val="8A63D2"/>
          </a:solidFill>
          <a:ln/>
        </p:spPr>
      </p:sp>
      <p:sp>
        <p:nvSpPr>
          <p:cNvPr id="13" name="Text 11"/>
          <p:cNvSpPr/>
          <p:nvPr/>
        </p:nvSpPr>
        <p:spPr>
          <a:xfrm>
            <a:off x="9779000" y="1719461"/>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2.94</a:t>
            </a:r>
            <a:endParaRPr lang="en-US" sz="1400" dirty="0"/>
          </a:p>
        </p:txBody>
      </p:sp>
      <p:sp>
        <p:nvSpPr>
          <p:cNvPr id="14" name="Text 12"/>
          <p:cNvSpPr/>
          <p:nvPr/>
        </p:nvSpPr>
        <p:spPr>
          <a:xfrm>
            <a:off x="4038600" y="2086670"/>
            <a:ext cx="235458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Hard to finish tasks without AI</a:t>
            </a:r>
            <a:endParaRPr lang="en-US" sz="1300" dirty="0"/>
          </a:p>
        </p:txBody>
      </p:sp>
      <p:sp>
        <p:nvSpPr>
          <p:cNvPr id="15" name="Shape 13"/>
          <p:cNvSpPr/>
          <p:nvPr/>
        </p:nvSpPr>
        <p:spPr>
          <a:xfrm>
            <a:off x="6426200" y="2099072"/>
            <a:ext cx="3302000" cy="165100"/>
          </a:xfrm>
          <a:prstGeom prst="roundRect">
            <a:avLst>
              <a:gd name="adj" fmla="val 50000"/>
            </a:avLst>
          </a:prstGeom>
          <a:solidFill>
            <a:srgbClr val="DDD2F0"/>
          </a:solidFill>
          <a:ln/>
        </p:spPr>
      </p:sp>
      <p:sp>
        <p:nvSpPr>
          <p:cNvPr id="16" name="Shape 14"/>
          <p:cNvSpPr/>
          <p:nvPr/>
        </p:nvSpPr>
        <p:spPr>
          <a:xfrm>
            <a:off x="6426200" y="2099072"/>
            <a:ext cx="1829308" cy="165100"/>
          </a:xfrm>
          <a:prstGeom prst="roundRect">
            <a:avLst>
              <a:gd name="adj" fmla="val 50000"/>
            </a:avLst>
          </a:prstGeom>
          <a:solidFill>
            <a:srgbClr val="8A63D2"/>
          </a:solidFill>
          <a:ln/>
        </p:spPr>
      </p:sp>
      <p:sp>
        <p:nvSpPr>
          <p:cNvPr id="17" name="Text 15"/>
          <p:cNvSpPr/>
          <p:nvPr/>
        </p:nvSpPr>
        <p:spPr>
          <a:xfrm>
            <a:off x="9779000" y="2057202"/>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2.77</a:t>
            </a:r>
            <a:endParaRPr lang="en-US" sz="1400" dirty="0"/>
          </a:p>
        </p:txBody>
      </p:sp>
      <p:sp>
        <p:nvSpPr>
          <p:cNvPr id="18" name="Text 16"/>
          <p:cNvSpPr/>
          <p:nvPr/>
        </p:nvSpPr>
        <p:spPr>
          <a:xfrm>
            <a:off x="4038600" y="2424410"/>
            <a:ext cx="235458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Accept answers without checking</a:t>
            </a:r>
            <a:endParaRPr lang="en-US" sz="1300" dirty="0"/>
          </a:p>
        </p:txBody>
      </p:sp>
      <p:sp>
        <p:nvSpPr>
          <p:cNvPr id="19" name="Shape 17"/>
          <p:cNvSpPr/>
          <p:nvPr/>
        </p:nvSpPr>
        <p:spPr>
          <a:xfrm>
            <a:off x="6426200" y="2436813"/>
            <a:ext cx="3302000" cy="165100"/>
          </a:xfrm>
          <a:prstGeom prst="roundRect">
            <a:avLst>
              <a:gd name="adj" fmla="val 50000"/>
            </a:avLst>
          </a:prstGeom>
          <a:solidFill>
            <a:srgbClr val="DDD2F0"/>
          </a:solidFill>
          <a:ln/>
        </p:spPr>
      </p:sp>
      <p:sp>
        <p:nvSpPr>
          <p:cNvPr id="20" name="Shape 18"/>
          <p:cNvSpPr/>
          <p:nvPr/>
        </p:nvSpPr>
        <p:spPr>
          <a:xfrm>
            <a:off x="6426200" y="2436813"/>
            <a:ext cx="1651000" cy="165100"/>
          </a:xfrm>
          <a:prstGeom prst="roundRect">
            <a:avLst>
              <a:gd name="adj" fmla="val 50000"/>
            </a:avLst>
          </a:prstGeom>
          <a:solidFill>
            <a:srgbClr val="8A63D2"/>
          </a:solidFill>
          <a:ln/>
        </p:spPr>
      </p:sp>
      <p:sp>
        <p:nvSpPr>
          <p:cNvPr id="21" name="Text 19"/>
          <p:cNvSpPr/>
          <p:nvPr/>
        </p:nvSpPr>
        <p:spPr>
          <a:xfrm>
            <a:off x="9779000" y="2394942"/>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2.50</a:t>
            </a:r>
            <a:endParaRPr lang="en-US" sz="1400" dirty="0"/>
          </a:p>
        </p:txBody>
      </p:sp>
      <p:sp>
        <p:nvSpPr>
          <p:cNvPr id="22" name="Text 20"/>
          <p:cNvSpPr/>
          <p:nvPr/>
        </p:nvSpPr>
        <p:spPr>
          <a:xfrm>
            <a:off x="4038600" y="2762151"/>
            <a:ext cx="235458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Use answers I do not understand</a:t>
            </a:r>
            <a:endParaRPr lang="en-US" sz="1300" dirty="0"/>
          </a:p>
        </p:txBody>
      </p:sp>
      <p:sp>
        <p:nvSpPr>
          <p:cNvPr id="23" name="Shape 21"/>
          <p:cNvSpPr/>
          <p:nvPr/>
        </p:nvSpPr>
        <p:spPr>
          <a:xfrm>
            <a:off x="6426200" y="2774553"/>
            <a:ext cx="3302000" cy="165100"/>
          </a:xfrm>
          <a:prstGeom prst="roundRect">
            <a:avLst>
              <a:gd name="adj" fmla="val 50000"/>
            </a:avLst>
          </a:prstGeom>
          <a:solidFill>
            <a:srgbClr val="DDD2F0"/>
          </a:solidFill>
          <a:ln/>
        </p:spPr>
      </p:sp>
      <p:sp>
        <p:nvSpPr>
          <p:cNvPr id="24" name="Shape 22"/>
          <p:cNvSpPr/>
          <p:nvPr/>
        </p:nvSpPr>
        <p:spPr>
          <a:xfrm>
            <a:off x="6426200" y="2774553"/>
            <a:ext cx="1941576" cy="165100"/>
          </a:xfrm>
          <a:prstGeom prst="roundRect">
            <a:avLst>
              <a:gd name="adj" fmla="val 50000"/>
            </a:avLst>
          </a:prstGeom>
          <a:solidFill>
            <a:srgbClr val="8A63D2"/>
          </a:solidFill>
          <a:ln/>
        </p:spPr>
      </p:sp>
      <p:sp>
        <p:nvSpPr>
          <p:cNvPr id="25" name="Text 23"/>
          <p:cNvSpPr/>
          <p:nvPr/>
        </p:nvSpPr>
        <p:spPr>
          <a:xfrm>
            <a:off x="9779000" y="2732683"/>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2.94</a:t>
            </a:r>
            <a:endParaRPr lang="en-US" sz="1400" dirty="0"/>
          </a:p>
        </p:txBody>
      </p:sp>
      <p:sp>
        <p:nvSpPr>
          <p:cNvPr id="26" name="Text 24"/>
          <p:cNvSpPr/>
          <p:nvPr/>
        </p:nvSpPr>
        <p:spPr>
          <a:xfrm>
            <a:off x="4038600" y="3099891"/>
            <a:ext cx="235458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Depend on AI instead of trying</a:t>
            </a:r>
            <a:endParaRPr lang="en-US" sz="1300" dirty="0"/>
          </a:p>
        </p:txBody>
      </p:sp>
      <p:sp>
        <p:nvSpPr>
          <p:cNvPr id="27" name="Shape 25"/>
          <p:cNvSpPr/>
          <p:nvPr/>
        </p:nvSpPr>
        <p:spPr>
          <a:xfrm>
            <a:off x="6426200" y="3112294"/>
            <a:ext cx="3302000" cy="165100"/>
          </a:xfrm>
          <a:prstGeom prst="roundRect">
            <a:avLst>
              <a:gd name="adj" fmla="val 50000"/>
            </a:avLst>
          </a:prstGeom>
          <a:solidFill>
            <a:srgbClr val="DDD2F0"/>
          </a:solidFill>
          <a:ln/>
        </p:spPr>
      </p:sp>
      <p:sp>
        <p:nvSpPr>
          <p:cNvPr id="28" name="Shape 26"/>
          <p:cNvSpPr/>
          <p:nvPr/>
        </p:nvSpPr>
        <p:spPr>
          <a:xfrm>
            <a:off x="6426200" y="3112294"/>
            <a:ext cx="1855724" cy="165100"/>
          </a:xfrm>
          <a:prstGeom prst="roundRect">
            <a:avLst>
              <a:gd name="adj" fmla="val 50000"/>
            </a:avLst>
          </a:prstGeom>
          <a:solidFill>
            <a:srgbClr val="8A63D2"/>
          </a:solidFill>
          <a:ln/>
        </p:spPr>
      </p:sp>
      <p:sp>
        <p:nvSpPr>
          <p:cNvPr id="29" name="Text 27"/>
          <p:cNvSpPr/>
          <p:nvPr/>
        </p:nvSpPr>
        <p:spPr>
          <a:xfrm>
            <a:off x="9779000" y="3070423"/>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2.81</a:t>
            </a:r>
            <a:endParaRPr lang="en-US" sz="1400" dirty="0"/>
          </a:p>
        </p:txBody>
      </p:sp>
      <p:sp>
        <p:nvSpPr>
          <p:cNvPr id="30" name="Text 28"/>
          <p:cNvSpPr/>
          <p:nvPr/>
        </p:nvSpPr>
        <p:spPr>
          <a:xfrm>
            <a:off x="4038600" y="3437632"/>
            <a:ext cx="235458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Verify AI information</a:t>
            </a:r>
            <a:endParaRPr lang="en-US" sz="1300" dirty="0"/>
          </a:p>
        </p:txBody>
      </p:sp>
      <p:sp>
        <p:nvSpPr>
          <p:cNvPr id="31" name="Shape 29"/>
          <p:cNvSpPr/>
          <p:nvPr/>
        </p:nvSpPr>
        <p:spPr>
          <a:xfrm>
            <a:off x="6426200" y="3450034"/>
            <a:ext cx="3302000" cy="165100"/>
          </a:xfrm>
          <a:prstGeom prst="roundRect">
            <a:avLst>
              <a:gd name="adj" fmla="val 50000"/>
            </a:avLst>
          </a:prstGeom>
          <a:solidFill>
            <a:srgbClr val="DDD2F0"/>
          </a:solidFill>
          <a:ln/>
        </p:spPr>
      </p:sp>
      <p:sp>
        <p:nvSpPr>
          <p:cNvPr id="32" name="Shape 30"/>
          <p:cNvSpPr/>
          <p:nvPr/>
        </p:nvSpPr>
        <p:spPr>
          <a:xfrm>
            <a:off x="6426200" y="3450034"/>
            <a:ext cx="2364232" cy="165100"/>
          </a:xfrm>
          <a:prstGeom prst="roundRect">
            <a:avLst>
              <a:gd name="adj" fmla="val 50000"/>
            </a:avLst>
          </a:prstGeom>
          <a:solidFill>
            <a:srgbClr val="2E8B57"/>
          </a:solidFill>
          <a:ln/>
        </p:spPr>
      </p:sp>
      <p:sp>
        <p:nvSpPr>
          <p:cNvPr id="33" name="Text 31"/>
          <p:cNvSpPr/>
          <p:nvPr/>
        </p:nvSpPr>
        <p:spPr>
          <a:xfrm>
            <a:off x="9779000" y="3408164"/>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3.58</a:t>
            </a:r>
            <a:endParaRPr lang="en-US" sz="1400" dirty="0"/>
          </a:p>
        </p:txBody>
      </p:sp>
      <p:sp>
        <p:nvSpPr>
          <p:cNvPr id="34" name="Text 32"/>
          <p:cNvSpPr/>
          <p:nvPr/>
        </p:nvSpPr>
        <p:spPr>
          <a:xfrm>
            <a:off x="4038600" y="3775373"/>
            <a:ext cx="235458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Own critical thinking matters</a:t>
            </a:r>
            <a:endParaRPr lang="en-US" sz="1300" dirty="0"/>
          </a:p>
        </p:txBody>
      </p:sp>
      <p:sp>
        <p:nvSpPr>
          <p:cNvPr id="35" name="Shape 33"/>
          <p:cNvSpPr/>
          <p:nvPr/>
        </p:nvSpPr>
        <p:spPr>
          <a:xfrm>
            <a:off x="6426200" y="3787775"/>
            <a:ext cx="3302000" cy="165100"/>
          </a:xfrm>
          <a:prstGeom prst="roundRect">
            <a:avLst>
              <a:gd name="adj" fmla="val 50000"/>
            </a:avLst>
          </a:prstGeom>
          <a:solidFill>
            <a:srgbClr val="DDD2F0"/>
          </a:solidFill>
          <a:ln/>
        </p:spPr>
      </p:sp>
      <p:sp>
        <p:nvSpPr>
          <p:cNvPr id="36" name="Shape 34"/>
          <p:cNvSpPr/>
          <p:nvPr/>
        </p:nvSpPr>
        <p:spPr>
          <a:xfrm>
            <a:off x="6426200" y="3787775"/>
            <a:ext cx="2819908" cy="165100"/>
          </a:xfrm>
          <a:prstGeom prst="roundRect">
            <a:avLst>
              <a:gd name="adj" fmla="val 50000"/>
            </a:avLst>
          </a:prstGeom>
          <a:solidFill>
            <a:srgbClr val="2E8B57"/>
          </a:solidFill>
          <a:ln/>
        </p:spPr>
      </p:sp>
      <p:sp>
        <p:nvSpPr>
          <p:cNvPr id="37" name="Text 35"/>
          <p:cNvSpPr/>
          <p:nvPr/>
        </p:nvSpPr>
        <p:spPr>
          <a:xfrm>
            <a:off x="9779000" y="3745905"/>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4.27</a:t>
            </a:r>
            <a:endParaRPr lang="en-US" sz="1400" dirty="0"/>
          </a:p>
        </p:txBody>
      </p:sp>
      <p:sp>
        <p:nvSpPr>
          <p:cNvPr id="38" name="Text 36"/>
          <p:cNvSpPr/>
          <p:nvPr/>
        </p:nvSpPr>
        <p:spPr>
          <a:xfrm>
            <a:off x="812800" y="4388445"/>
            <a:ext cx="108833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3358"/>
                </a:solidFill>
                <a:latin typeface="Rajdhani" pitchFamily="34" charset="0"/>
                <a:ea typeface="Rajdhani" pitchFamily="34" charset="-122"/>
                <a:cs typeface="Rajdhani" pitchFamily="34" charset="-120"/>
              </a:rPr>
              <a:t>Every item except the last had SD above 1.00, so dependency varied a lot between students. The last two items are about responsible use, so the composite should be read with that in mind.</a:t>
            </a:r>
            <a:endParaRPr lang="en-US" sz="1400" dirty="0"/>
          </a:p>
        </p:txBody>
      </p:sp>
      <p:sp>
        <p:nvSpPr>
          <p:cNvPr id="39" name="Text 3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275"/>
                </a:solidFill>
                <a:latin typeface="Rajdhani" pitchFamily="34" charset="0"/>
                <a:ea typeface="Rajdhani" pitchFamily="34" charset="-122"/>
                <a:cs typeface="Rajdhani" pitchFamily="34" charset="-120"/>
              </a:rPr>
              <a:t>Ctrl + Think · Capstone defense</a:t>
            </a:r>
            <a:endParaRPr lang="en-US" sz="1200" dirty="0"/>
          </a:p>
        </p:txBody>
      </p:sp>
      <p:sp>
        <p:nvSpPr>
          <p:cNvPr id="40" name="Text 3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5275"/>
                </a:solidFill>
                <a:latin typeface="Rajdhani" pitchFamily="34" charset="0"/>
                <a:ea typeface="Rajdhani" pitchFamily="34" charset="-122"/>
                <a:cs typeface="Rajdhani"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F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6D3FC0"/>
                </a:solidFill>
                <a:latin typeface="Rajdhani" pitchFamily="34" charset="0"/>
                <a:ea typeface="Rajdhani" pitchFamily="34" charset="-122"/>
                <a:cs typeface="Rajdhani" pitchFamily="34" charset="-120"/>
              </a:rPr>
              <a:t>THE RESULTS</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430"/>
                </a:solidFill>
                <a:latin typeface="Orbitron" pitchFamily="34" charset="0"/>
                <a:ea typeface="Orbitron" pitchFamily="34" charset="-122"/>
                <a:cs typeface="Orbitron" pitchFamily="34" charset="-120"/>
              </a:rPr>
              <a:t>How players rated the game itself</a:t>
            </a:r>
            <a:endParaRPr lang="en-US" sz="2800" dirty="0"/>
          </a:p>
        </p:txBody>
      </p:sp>
      <p:sp>
        <p:nvSpPr>
          <p:cNvPr id="4" name="Shape 2"/>
          <p:cNvSpPr/>
          <p:nvPr/>
        </p:nvSpPr>
        <p:spPr>
          <a:xfrm>
            <a:off x="812800" y="1528961"/>
            <a:ext cx="2794000" cy="3084314"/>
          </a:xfrm>
          <a:prstGeom prst="roundRect">
            <a:avLst>
              <a:gd name="adj" fmla="val 4545"/>
            </a:avLst>
          </a:prstGeom>
          <a:solidFill>
            <a:srgbClr val="2A1A52"/>
          </a:solidFill>
          <a:ln/>
        </p:spPr>
      </p:sp>
      <p:sp>
        <p:nvSpPr>
          <p:cNvPr id="5" name="Text 3"/>
          <p:cNvSpPr/>
          <p:nvPr/>
        </p:nvSpPr>
        <p:spPr>
          <a:xfrm>
            <a:off x="1041400" y="1757561"/>
            <a:ext cx="2406904"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BA6F7"/>
                </a:solidFill>
                <a:latin typeface="Rajdhani" pitchFamily="34" charset="0"/>
                <a:ea typeface="Rajdhani" pitchFamily="34" charset="-122"/>
                <a:cs typeface="Rajdhani" pitchFamily="34" charset="-120"/>
              </a:rPr>
              <a:t>SYSTEM CHARACTERISTICS</a:t>
            </a:r>
            <a:endParaRPr lang="en-US" sz="1300" dirty="0"/>
          </a:p>
        </p:txBody>
      </p:sp>
      <p:sp>
        <p:nvSpPr>
          <p:cNvPr id="6" name="Text 4"/>
          <p:cNvSpPr/>
          <p:nvPr/>
        </p:nvSpPr>
        <p:spPr>
          <a:xfrm>
            <a:off x="1041400" y="2052141"/>
            <a:ext cx="240690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FFFF"/>
                </a:solidFill>
                <a:latin typeface="Orbitron" pitchFamily="34" charset="0"/>
                <a:ea typeface="Orbitron" pitchFamily="34" charset="-122"/>
                <a:cs typeface="Orbitron" pitchFamily="34" charset="-120"/>
              </a:rPr>
              <a:t>4.07</a:t>
            </a:r>
            <a:endParaRPr lang="en-US" sz="6000" dirty="0"/>
          </a:p>
        </p:txBody>
      </p:sp>
      <p:sp>
        <p:nvSpPr>
          <p:cNvPr id="7" name="Text 5"/>
          <p:cNvSpPr/>
          <p:nvPr/>
        </p:nvSpPr>
        <p:spPr>
          <a:xfrm>
            <a:off x="1041400" y="2877641"/>
            <a:ext cx="240690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BA6F7"/>
                </a:solidFill>
                <a:latin typeface="Rajdhani" pitchFamily="34" charset="0"/>
                <a:ea typeface="Rajdhani" pitchFamily="34" charset="-122"/>
                <a:cs typeface="Rajdhani" pitchFamily="34" charset="-120"/>
              </a:rPr>
              <a:t>Agree</a:t>
            </a:r>
            <a:endParaRPr lang="en-US" sz="1700" dirty="0"/>
          </a:p>
        </p:txBody>
      </p:sp>
      <p:sp>
        <p:nvSpPr>
          <p:cNvPr id="8" name="Text 6"/>
          <p:cNvSpPr/>
          <p:nvPr/>
        </p:nvSpPr>
        <p:spPr>
          <a:xfrm>
            <a:off x="1041400" y="3243362"/>
            <a:ext cx="240690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DD6EE"/>
                </a:solidFill>
                <a:latin typeface="Rajdhani" pitchFamily="34" charset="0"/>
                <a:ea typeface="Rajdhani" pitchFamily="34" charset="-122"/>
                <a:cs typeface="Rajdhani" pitchFamily="34" charset="-120"/>
              </a:rPr>
              <a:t>SD = 0.57. The highest-rated part of the whole questionnaire.</a:t>
            </a:r>
            <a:endParaRPr lang="en-US" sz="1300" dirty="0"/>
          </a:p>
        </p:txBody>
      </p:sp>
      <p:sp>
        <p:nvSpPr>
          <p:cNvPr id="9" name="Shape 7"/>
          <p:cNvSpPr/>
          <p:nvPr/>
        </p:nvSpPr>
        <p:spPr>
          <a:xfrm>
            <a:off x="3816350" y="1535311"/>
            <a:ext cx="7556500" cy="1761133"/>
          </a:xfrm>
          <a:prstGeom prst="roundRect">
            <a:avLst>
              <a:gd name="adj" fmla="val 6130"/>
            </a:avLst>
          </a:prstGeom>
          <a:solidFill>
            <a:srgbClr val="FBF9FE"/>
          </a:solidFill>
          <a:ln w="12700">
            <a:solidFill>
              <a:srgbClr val="D9CDEF"/>
            </a:solidFill>
            <a:prstDash val="solid"/>
          </a:ln>
        </p:spPr>
      </p:sp>
      <p:sp>
        <p:nvSpPr>
          <p:cNvPr id="10" name="Text 8"/>
          <p:cNvSpPr/>
          <p:nvPr/>
        </p:nvSpPr>
        <p:spPr>
          <a:xfrm>
            <a:off x="4038600" y="1748929"/>
            <a:ext cx="144780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Mini games</a:t>
            </a:r>
            <a:endParaRPr lang="en-US" sz="1300" dirty="0"/>
          </a:p>
        </p:txBody>
      </p:sp>
      <p:sp>
        <p:nvSpPr>
          <p:cNvPr id="11" name="Shape 9"/>
          <p:cNvSpPr/>
          <p:nvPr/>
        </p:nvSpPr>
        <p:spPr>
          <a:xfrm>
            <a:off x="5537200" y="1761331"/>
            <a:ext cx="3556000" cy="165100"/>
          </a:xfrm>
          <a:prstGeom prst="roundRect">
            <a:avLst>
              <a:gd name="adj" fmla="val 50000"/>
            </a:avLst>
          </a:prstGeom>
          <a:solidFill>
            <a:srgbClr val="DDD2F0"/>
          </a:solidFill>
          <a:ln/>
        </p:spPr>
      </p:sp>
      <p:sp>
        <p:nvSpPr>
          <p:cNvPr id="12" name="Shape 10"/>
          <p:cNvSpPr/>
          <p:nvPr/>
        </p:nvSpPr>
        <p:spPr>
          <a:xfrm>
            <a:off x="5537200" y="1761331"/>
            <a:ext cx="3079496" cy="165100"/>
          </a:xfrm>
          <a:prstGeom prst="roundRect">
            <a:avLst>
              <a:gd name="adj" fmla="val 50000"/>
            </a:avLst>
          </a:prstGeom>
          <a:solidFill>
            <a:srgbClr val="6D3FC0"/>
          </a:solidFill>
          <a:ln/>
        </p:spPr>
      </p:sp>
      <p:sp>
        <p:nvSpPr>
          <p:cNvPr id="13" name="Text 11"/>
          <p:cNvSpPr/>
          <p:nvPr/>
        </p:nvSpPr>
        <p:spPr>
          <a:xfrm>
            <a:off x="9144000" y="1719461"/>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4.33</a:t>
            </a:r>
            <a:endParaRPr lang="en-US" sz="1400" dirty="0"/>
          </a:p>
        </p:txBody>
      </p:sp>
      <p:sp>
        <p:nvSpPr>
          <p:cNvPr id="14" name="Text 12"/>
          <p:cNvSpPr/>
          <p:nvPr/>
        </p:nvSpPr>
        <p:spPr>
          <a:xfrm>
            <a:off x="4038600" y="2086670"/>
            <a:ext cx="144780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Characters</a:t>
            </a:r>
            <a:endParaRPr lang="en-US" sz="1300" dirty="0"/>
          </a:p>
        </p:txBody>
      </p:sp>
      <p:sp>
        <p:nvSpPr>
          <p:cNvPr id="15" name="Shape 13"/>
          <p:cNvSpPr/>
          <p:nvPr/>
        </p:nvSpPr>
        <p:spPr>
          <a:xfrm>
            <a:off x="5537200" y="2099072"/>
            <a:ext cx="3556000" cy="165100"/>
          </a:xfrm>
          <a:prstGeom prst="roundRect">
            <a:avLst>
              <a:gd name="adj" fmla="val 50000"/>
            </a:avLst>
          </a:prstGeom>
          <a:solidFill>
            <a:srgbClr val="DDD2F0"/>
          </a:solidFill>
          <a:ln/>
        </p:spPr>
      </p:sp>
      <p:sp>
        <p:nvSpPr>
          <p:cNvPr id="16" name="Shape 14"/>
          <p:cNvSpPr/>
          <p:nvPr/>
        </p:nvSpPr>
        <p:spPr>
          <a:xfrm>
            <a:off x="5537200" y="2099072"/>
            <a:ext cx="2866136" cy="165100"/>
          </a:xfrm>
          <a:prstGeom prst="roundRect">
            <a:avLst>
              <a:gd name="adj" fmla="val 50000"/>
            </a:avLst>
          </a:prstGeom>
          <a:solidFill>
            <a:srgbClr val="8A63D2"/>
          </a:solidFill>
          <a:ln/>
        </p:spPr>
      </p:sp>
      <p:sp>
        <p:nvSpPr>
          <p:cNvPr id="17" name="Text 15"/>
          <p:cNvSpPr/>
          <p:nvPr/>
        </p:nvSpPr>
        <p:spPr>
          <a:xfrm>
            <a:off x="9144000" y="2057202"/>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4.03</a:t>
            </a:r>
            <a:endParaRPr lang="en-US" sz="1400" dirty="0"/>
          </a:p>
        </p:txBody>
      </p:sp>
      <p:sp>
        <p:nvSpPr>
          <p:cNvPr id="18" name="Text 16"/>
          <p:cNvSpPr/>
          <p:nvPr/>
        </p:nvSpPr>
        <p:spPr>
          <a:xfrm>
            <a:off x="4038600" y="2424410"/>
            <a:ext cx="1447800" cy="405011"/>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Graphics and backgrounds</a:t>
            </a:r>
            <a:endParaRPr lang="en-US" sz="1300" dirty="0"/>
          </a:p>
        </p:txBody>
      </p:sp>
      <p:sp>
        <p:nvSpPr>
          <p:cNvPr id="19" name="Shape 17"/>
          <p:cNvSpPr/>
          <p:nvPr/>
        </p:nvSpPr>
        <p:spPr>
          <a:xfrm>
            <a:off x="5537200" y="2531665"/>
            <a:ext cx="3556000" cy="165100"/>
          </a:xfrm>
          <a:prstGeom prst="roundRect">
            <a:avLst>
              <a:gd name="adj" fmla="val 50000"/>
            </a:avLst>
          </a:prstGeom>
          <a:solidFill>
            <a:srgbClr val="DDD2F0"/>
          </a:solidFill>
          <a:ln/>
        </p:spPr>
      </p:sp>
      <p:sp>
        <p:nvSpPr>
          <p:cNvPr id="20" name="Shape 18"/>
          <p:cNvSpPr/>
          <p:nvPr/>
        </p:nvSpPr>
        <p:spPr>
          <a:xfrm>
            <a:off x="5537200" y="2531665"/>
            <a:ext cx="2859024" cy="165100"/>
          </a:xfrm>
          <a:prstGeom prst="roundRect">
            <a:avLst>
              <a:gd name="adj" fmla="val 50000"/>
            </a:avLst>
          </a:prstGeom>
          <a:solidFill>
            <a:srgbClr val="8A63D2"/>
          </a:solidFill>
          <a:ln/>
        </p:spPr>
      </p:sp>
      <p:sp>
        <p:nvSpPr>
          <p:cNvPr id="21" name="Text 19"/>
          <p:cNvSpPr/>
          <p:nvPr/>
        </p:nvSpPr>
        <p:spPr>
          <a:xfrm>
            <a:off x="9144000" y="2489795"/>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4.02</a:t>
            </a:r>
            <a:endParaRPr lang="en-US" sz="1400" dirty="0"/>
          </a:p>
        </p:txBody>
      </p:sp>
      <p:sp>
        <p:nvSpPr>
          <p:cNvPr id="22" name="Text 20"/>
          <p:cNvSpPr/>
          <p:nvPr/>
        </p:nvSpPr>
        <p:spPr>
          <a:xfrm>
            <a:off x="4038600" y="2922489"/>
            <a:ext cx="144780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Story and situations</a:t>
            </a:r>
            <a:endParaRPr lang="en-US" sz="1300" dirty="0"/>
          </a:p>
        </p:txBody>
      </p:sp>
      <p:sp>
        <p:nvSpPr>
          <p:cNvPr id="23" name="Shape 21"/>
          <p:cNvSpPr/>
          <p:nvPr/>
        </p:nvSpPr>
        <p:spPr>
          <a:xfrm>
            <a:off x="5537200" y="2934891"/>
            <a:ext cx="3556000" cy="165100"/>
          </a:xfrm>
          <a:prstGeom prst="roundRect">
            <a:avLst>
              <a:gd name="adj" fmla="val 50000"/>
            </a:avLst>
          </a:prstGeom>
          <a:solidFill>
            <a:srgbClr val="DDD2F0"/>
          </a:solidFill>
          <a:ln/>
        </p:spPr>
      </p:sp>
      <p:sp>
        <p:nvSpPr>
          <p:cNvPr id="24" name="Shape 22"/>
          <p:cNvSpPr/>
          <p:nvPr/>
        </p:nvSpPr>
        <p:spPr>
          <a:xfrm>
            <a:off x="5537200" y="2934891"/>
            <a:ext cx="2787904" cy="165100"/>
          </a:xfrm>
          <a:prstGeom prst="roundRect">
            <a:avLst>
              <a:gd name="adj" fmla="val 50000"/>
            </a:avLst>
          </a:prstGeom>
          <a:solidFill>
            <a:srgbClr val="8A63D2"/>
          </a:solidFill>
          <a:ln/>
        </p:spPr>
      </p:sp>
      <p:sp>
        <p:nvSpPr>
          <p:cNvPr id="25" name="Text 23"/>
          <p:cNvSpPr/>
          <p:nvPr/>
        </p:nvSpPr>
        <p:spPr>
          <a:xfrm>
            <a:off x="9144000" y="2893021"/>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3.92</a:t>
            </a:r>
            <a:endParaRPr lang="en-US" sz="1400" dirty="0"/>
          </a:p>
        </p:txBody>
      </p:sp>
      <p:sp>
        <p:nvSpPr>
          <p:cNvPr id="26" name="Shape 24"/>
          <p:cNvSpPr/>
          <p:nvPr/>
        </p:nvSpPr>
        <p:spPr>
          <a:xfrm>
            <a:off x="3816350" y="3436144"/>
            <a:ext cx="2442567" cy="1170781"/>
          </a:xfrm>
          <a:prstGeom prst="roundRect">
            <a:avLst>
              <a:gd name="adj" fmla="val 9220"/>
            </a:avLst>
          </a:prstGeom>
          <a:solidFill>
            <a:srgbClr val="FBF9FE"/>
          </a:solidFill>
          <a:ln w="12700">
            <a:solidFill>
              <a:srgbClr val="D9CDEF"/>
            </a:solidFill>
            <a:prstDash val="solid"/>
          </a:ln>
        </p:spPr>
      </p:sp>
      <p:sp>
        <p:nvSpPr>
          <p:cNvPr id="27" name="Text 25"/>
          <p:cNvSpPr/>
          <p:nvPr/>
        </p:nvSpPr>
        <p:spPr>
          <a:xfrm>
            <a:off x="3975100" y="3582194"/>
            <a:ext cx="2188819" cy="469900"/>
          </a:xfrm>
          <a:prstGeom prst="rect">
            <a:avLst/>
          </a:prstGeom>
          <a:noFill/>
          <a:ln/>
        </p:spPr>
        <p:txBody>
          <a:bodyPr wrap="square" lIns="0" tIns="0" rIns="0" bIns="0" rtlCol="0" anchor="t">
            <a:normAutofit/>
          </a:bodyPr>
          <a:lstStyle/>
          <a:p>
            <a:pPr algn="l" indent="0" marL="0">
              <a:lnSpc>
                <a:spcPts val="3500"/>
              </a:lnSpc>
              <a:buNone/>
            </a:pPr>
            <a:r>
              <a:rPr lang="en-US" sz="2500" b="1" dirty="0">
                <a:solidFill>
                  <a:srgbClr val="6D3FC0"/>
                </a:solidFill>
                <a:latin typeface="Orbitron" pitchFamily="34" charset="0"/>
                <a:ea typeface="Orbitron" pitchFamily="34" charset="-122"/>
                <a:cs typeface="Orbitron" pitchFamily="34" charset="-120"/>
              </a:rPr>
              <a:t>4.38</a:t>
            </a:r>
            <a:endParaRPr lang="en-US" sz="2500" dirty="0"/>
          </a:p>
        </p:txBody>
      </p:sp>
      <p:sp>
        <p:nvSpPr>
          <p:cNvPr id="28" name="Text 26"/>
          <p:cNvSpPr/>
          <p:nvPr/>
        </p:nvSpPr>
        <p:spPr>
          <a:xfrm>
            <a:off x="3975100" y="4064794"/>
            <a:ext cx="2188819" cy="421481"/>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B1430"/>
                </a:solidFill>
                <a:latin typeface="Rajdhani" pitchFamily="34" charset="0"/>
                <a:ea typeface="Rajdhani" pitchFamily="34" charset="-122"/>
                <a:cs typeface="Rajdhani" pitchFamily="34" charset="-120"/>
              </a:rPr>
              <a:t>Character designs suited their roles</a:t>
            </a:r>
            <a:endParaRPr lang="en-US" sz="1300" dirty="0"/>
          </a:p>
        </p:txBody>
      </p:sp>
      <p:sp>
        <p:nvSpPr>
          <p:cNvPr id="29" name="Shape 27"/>
          <p:cNvSpPr/>
          <p:nvPr/>
        </p:nvSpPr>
        <p:spPr>
          <a:xfrm>
            <a:off x="6373217" y="3436144"/>
            <a:ext cx="2442666" cy="1170781"/>
          </a:xfrm>
          <a:prstGeom prst="roundRect">
            <a:avLst>
              <a:gd name="adj" fmla="val 9220"/>
            </a:avLst>
          </a:prstGeom>
          <a:solidFill>
            <a:srgbClr val="FBF9FE"/>
          </a:solidFill>
          <a:ln w="12700">
            <a:solidFill>
              <a:srgbClr val="D9CDEF"/>
            </a:solidFill>
            <a:prstDash val="solid"/>
          </a:ln>
        </p:spPr>
      </p:sp>
      <p:sp>
        <p:nvSpPr>
          <p:cNvPr id="30" name="Text 28"/>
          <p:cNvSpPr/>
          <p:nvPr/>
        </p:nvSpPr>
        <p:spPr>
          <a:xfrm>
            <a:off x="6531967" y="3582194"/>
            <a:ext cx="2188921" cy="469900"/>
          </a:xfrm>
          <a:prstGeom prst="rect">
            <a:avLst/>
          </a:prstGeom>
          <a:noFill/>
          <a:ln/>
        </p:spPr>
        <p:txBody>
          <a:bodyPr wrap="square" lIns="0" tIns="0" rIns="0" bIns="0" rtlCol="0" anchor="t">
            <a:normAutofit/>
          </a:bodyPr>
          <a:lstStyle/>
          <a:p>
            <a:pPr algn="l" indent="0" marL="0">
              <a:lnSpc>
                <a:spcPts val="3500"/>
              </a:lnSpc>
              <a:buNone/>
            </a:pPr>
            <a:r>
              <a:rPr lang="en-US" sz="2500" b="1" dirty="0">
                <a:solidFill>
                  <a:srgbClr val="6D3FC0"/>
                </a:solidFill>
                <a:latin typeface="Orbitron" pitchFamily="34" charset="0"/>
                <a:ea typeface="Orbitron" pitchFamily="34" charset="-122"/>
                <a:cs typeface="Orbitron" pitchFamily="34" charset="-120"/>
              </a:rPr>
              <a:t>4.35</a:t>
            </a:r>
            <a:endParaRPr lang="en-US" sz="2500" dirty="0"/>
          </a:p>
        </p:txBody>
      </p:sp>
      <p:sp>
        <p:nvSpPr>
          <p:cNvPr id="31" name="Text 29"/>
          <p:cNvSpPr/>
          <p:nvPr/>
        </p:nvSpPr>
        <p:spPr>
          <a:xfrm>
            <a:off x="6531967" y="4064794"/>
            <a:ext cx="2188921" cy="421481"/>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B1430"/>
                </a:solidFill>
                <a:latin typeface="Rajdhani" pitchFamily="34" charset="0"/>
                <a:ea typeface="Rajdhani" pitchFamily="34" charset="-122"/>
                <a:cs typeface="Rajdhani" pitchFamily="34" charset="-120"/>
              </a:rPr>
              <a:t>Mini games were relevant to the story</a:t>
            </a:r>
            <a:endParaRPr lang="en-US" sz="1300" dirty="0"/>
          </a:p>
        </p:txBody>
      </p:sp>
      <p:sp>
        <p:nvSpPr>
          <p:cNvPr id="32" name="Shape 30"/>
          <p:cNvSpPr/>
          <p:nvPr/>
        </p:nvSpPr>
        <p:spPr>
          <a:xfrm>
            <a:off x="8930184" y="3436144"/>
            <a:ext cx="2442666" cy="1170781"/>
          </a:xfrm>
          <a:prstGeom prst="roundRect">
            <a:avLst>
              <a:gd name="adj" fmla="val 9220"/>
            </a:avLst>
          </a:prstGeom>
          <a:solidFill>
            <a:srgbClr val="FBF9FE"/>
          </a:solidFill>
          <a:ln w="12700">
            <a:solidFill>
              <a:srgbClr val="D9CDEF"/>
            </a:solidFill>
            <a:prstDash val="solid"/>
          </a:ln>
        </p:spPr>
      </p:sp>
      <p:sp>
        <p:nvSpPr>
          <p:cNvPr id="33" name="Text 31"/>
          <p:cNvSpPr/>
          <p:nvPr/>
        </p:nvSpPr>
        <p:spPr>
          <a:xfrm>
            <a:off x="9088934" y="3582194"/>
            <a:ext cx="2188921" cy="469900"/>
          </a:xfrm>
          <a:prstGeom prst="rect">
            <a:avLst/>
          </a:prstGeom>
          <a:noFill/>
          <a:ln/>
        </p:spPr>
        <p:txBody>
          <a:bodyPr wrap="square" lIns="0" tIns="0" rIns="0" bIns="0" rtlCol="0" anchor="t">
            <a:normAutofit/>
          </a:bodyPr>
          <a:lstStyle/>
          <a:p>
            <a:pPr algn="l" indent="0" marL="0">
              <a:lnSpc>
                <a:spcPts val="3500"/>
              </a:lnSpc>
              <a:buNone/>
            </a:pPr>
            <a:r>
              <a:rPr lang="en-US" sz="2500" b="1" dirty="0">
                <a:solidFill>
                  <a:srgbClr val="6D3FC0"/>
                </a:solidFill>
                <a:latin typeface="Orbitron" pitchFamily="34" charset="0"/>
                <a:ea typeface="Orbitron" pitchFamily="34" charset="-122"/>
                <a:cs typeface="Orbitron" pitchFamily="34" charset="-120"/>
              </a:rPr>
              <a:t>4.31</a:t>
            </a:r>
            <a:endParaRPr lang="en-US" sz="2500" dirty="0"/>
          </a:p>
        </p:txBody>
      </p:sp>
      <p:sp>
        <p:nvSpPr>
          <p:cNvPr id="34" name="Text 32"/>
          <p:cNvSpPr/>
          <p:nvPr/>
        </p:nvSpPr>
        <p:spPr>
          <a:xfrm>
            <a:off x="9088934" y="4064794"/>
            <a:ext cx="2188921" cy="421481"/>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B1430"/>
                </a:solidFill>
                <a:latin typeface="Rajdhani" pitchFamily="34" charset="0"/>
                <a:ea typeface="Rajdhani" pitchFamily="34" charset="-122"/>
                <a:cs typeface="Rajdhani" pitchFamily="34" charset="-120"/>
              </a:rPr>
              <a:t>Mini game difficulty was appropriate</a:t>
            </a:r>
            <a:endParaRPr lang="en-US" sz="1300" dirty="0"/>
          </a:p>
        </p:txBody>
      </p:sp>
      <p:sp>
        <p:nvSpPr>
          <p:cNvPr id="35" name="Text 33"/>
          <p:cNvSpPr/>
          <p:nvPr/>
        </p:nvSpPr>
        <p:spPr>
          <a:xfrm>
            <a:off x="812800" y="4816475"/>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3358"/>
                </a:solidFill>
                <a:latin typeface="Rajdhani" pitchFamily="34" charset="0"/>
                <a:ea typeface="Rajdhani" pitchFamily="34" charset="-122"/>
                <a:cs typeface="Rajdhani" pitchFamily="34" charset="-120"/>
              </a:rPr>
              <a:t>The lowest item was “Characters’ actions were believable” at 3.69, still Agree.</a:t>
            </a:r>
            <a:endParaRPr lang="en-US" sz="1400" dirty="0"/>
          </a:p>
        </p:txBody>
      </p:sp>
      <p:sp>
        <p:nvSpPr>
          <p:cNvPr id="36" name="Text 3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275"/>
                </a:solidFill>
                <a:latin typeface="Rajdhani" pitchFamily="34" charset="0"/>
                <a:ea typeface="Rajdhani" pitchFamily="34" charset="-122"/>
                <a:cs typeface="Rajdhani" pitchFamily="34" charset="-120"/>
              </a:rPr>
              <a:t>Ctrl + Think · Capstone defense</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5275"/>
                </a:solidFill>
                <a:latin typeface="Rajdhani" pitchFamily="34" charset="0"/>
                <a:ea typeface="Rajdhani" pitchFamily="34" charset="-122"/>
                <a:cs typeface="Rajdhan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F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6D3FC0"/>
                </a:solidFill>
                <a:latin typeface="Rajdhani" pitchFamily="34" charset="0"/>
                <a:ea typeface="Rajdhani" pitchFamily="34" charset="-122"/>
                <a:cs typeface="Rajdhani" pitchFamily="34" charset="-120"/>
              </a:rPr>
              <a:t>THE RESULTS</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430"/>
                </a:solidFill>
                <a:latin typeface="Orbitron" pitchFamily="34" charset="0"/>
                <a:ea typeface="Orbitron" pitchFamily="34" charset="-122"/>
                <a:cs typeface="Orbitron" pitchFamily="34" charset="-120"/>
              </a:rPr>
              <a:t>Technology Acceptance Model constructs</a:t>
            </a:r>
            <a:endParaRPr lang="en-US" sz="2800" dirty="0"/>
          </a:p>
        </p:txBody>
      </p:sp>
      <p:sp>
        <p:nvSpPr>
          <p:cNvPr id="4" name="Shape 2"/>
          <p:cNvSpPr/>
          <p:nvPr/>
        </p:nvSpPr>
        <p:spPr>
          <a:xfrm>
            <a:off x="812800" y="1528961"/>
            <a:ext cx="2794000" cy="2586831"/>
          </a:xfrm>
          <a:prstGeom prst="roundRect">
            <a:avLst>
              <a:gd name="adj" fmla="val 4909"/>
            </a:avLst>
          </a:prstGeom>
          <a:solidFill>
            <a:srgbClr val="2A1A52"/>
          </a:solidFill>
          <a:ln/>
        </p:spPr>
      </p:sp>
      <p:sp>
        <p:nvSpPr>
          <p:cNvPr id="5" name="Text 3"/>
          <p:cNvSpPr/>
          <p:nvPr/>
        </p:nvSpPr>
        <p:spPr>
          <a:xfrm>
            <a:off x="1041400" y="1757561"/>
            <a:ext cx="2406904"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BA6F7"/>
                </a:solidFill>
                <a:latin typeface="Rajdhani" pitchFamily="34" charset="0"/>
                <a:ea typeface="Rajdhani" pitchFamily="34" charset="-122"/>
                <a:cs typeface="Rajdhani" pitchFamily="34" charset="-120"/>
              </a:rPr>
              <a:t>OVERALL MEAN</a:t>
            </a:r>
            <a:endParaRPr lang="en-US" sz="1300" dirty="0"/>
          </a:p>
        </p:txBody>
      </p:sp>
      <p:sp>
        <p:nvSpPr>
          <p:cNvPr id="6" name="Text 4"/>
          <p:cNvSpPr/>
          <p:nvPr/>
        </p:nvSpPr>
        <p:spPr>
          <a:xfrm>
            <a:off x="1041400" y="2052141"/>
            <a:ext cx="240690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FFFF"/>
                </a:solidFill>
                <a:latin typeface="Orbitron" pitchFamily="34" charset="0"/>
                <a:ea typeface="Orbitron" pitchFamily="34" charset="-122"/>
                <a:cs typeface="Orbitron" pitchFamily="34" charset="-120"/>
              </a:rPr>
              <a:t>3.73</a:t>
            </a:r>
            <a:endParaRPr lang="en-US" sz="6000" dirty="0"/>
          </a:p>
        </p:txBody>
      </p:sp>
      <p:sp>
        <p:nvSpPr>
          <p:cNvPr id="7" name="Text 5"/>
          <p:cNvSpPr/>
          <p:nvPr/>
        </p:nvSpPr>
        <p:spPr>
          <a:xfrm>
            <a:off x="1041400" y="2877641"/>
            <a:ext cx="240690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BA6F7"/>
                </a:solidFill>
                <a:latin typeface="Rajdhani" pitchFamily="34" charset="0"/>
                <a:ea typeface="Rajdhani" pitchFamily="34" charset="-122"/>
                <a:cs typeface="Rajdhani" pitchFamily="34" charset="-120"/>
              </a:rPr>
              <a:t>Agree</a:t>
            </a:r>
            <a:endParaRPr lang="en-US" sz="1700" dirty="0"/>
          </a:p>
        </p:txBody>
      </p:sp>
      <p:sp>
        <p:nvSpPr>
          <p:cNvPr id="8" name="Text 6"/>
          <p:cNvSpPr/>
          <p:nvPr/>
        </p:nvSpPr>
        <p:spPr>
          <a:xfrm>
            <a:off x="1041400" y="3243362"/>
            <a:ext cx="2406904"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DD6EE"/>
                </a:solidFill>
                <a:latin typeface="Rajdhani" pitchFamily="34" charset="0"/>
                <a:ea typeface="Rajdhani" pitchFamily="34" charset="-122"/>
                <a:cs typeface="Rajdhani" pitchFamily="34" charset="-120"/>
              </a:rPr>
              <a:t>All five constructs were interpreted as Agree, which means a high level of acceptance.</a:t>
            </a:r>
            <a:endParaRPr lang="en-US" sz="1300" dirty="0"/>
          </a:p>
        </p:txBody>
      </p:sp>
      <p:sp>
        <p:nvSpPr>
          <p:cNvPr id="9" name="Shape 7"/>
          <p:cNvSpPr/>
          <p:nvPr/>
        </p:nvSpPr>
        <p:spPr>
          <a:xfrm>
            <a:off x="3816350" y="1535311"/>
            <a:ext cx="7556500" cy="2574131"/>
          </a:xfrm>
          <a:prstGeom prst="roundRect">
            <a:avLst>
              <a:gd name="adj" fmla="val 4194"/>
            </a:avLst>
          </a:prstGeom>
          <a:solidFill>
            <a:srgbClr val="FBF9FE"/>
          </a:solidFill>
          <a:ln w="12700">
            <a:solidFill>
              <a:srgbClr val="D9CDEF"/>
            </a:solidFill>
            <a:prstDash val="solid"/>
          </a:ln>
        </p:spPr>
      </p:sp>
      <p:sp>
        <p:nvSpPr>
          <p:cNvPr id="10" name="Text 8"/>
          <p:cNvSpPr/>
          <p:nvPr/>
        </p:nvSpPr>
        <p:spPr>
          <a:xfrm>
            <a:off x="4038600" y="1748929"/>
            <a:ext cx="2158365"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Perceived Ease of Use</a:t>
            </a:r>
            <a:endParaRPr lang="en-US" sz="1300" dirty="0"/>
          </a:p>
        </p:txBody>
      </p:sp>
      <p:sp>
        <p:nvSpPr>
          <p:cNvPr id="11" name="Shape 9"/>
          <p:cNvSpPr/>
          <p:nvPr/>
        </p:nvSpPr>
        <p:spPr>
          <a:xfrm>
            <a:off x="6235700" y="1761331"/>
            <a:ext cx="3810000" cy="165100"/>
          </a:xfrm>
          <a:prstGeom prst="roundRect">
            <a:avLst>
              <a:gd name="adj" fmla="val 50000"/>
            </a:avLst>
          </a:prstGeom>
          <a:solidFill>
            <a:srgbClr val="DDD2F0"/>
          </a:solidFill>
          <a:ln/>
        </p:spPr>
      </p:sp>
      <p:sp>
        <p:nvSpPr>
          <p:cNvPr id="12" name="Shape 10"/>
          <p:cNvSpPr/>
          <p:nvPr/>
        </p:nvSpPr>
        <p:spPr>
          <a:xfrm>
            <a:off x="6235700" y="1761331"/>
            <a:ext cx="3131820" cy="165100"/>
          </a:xfrm>
          <a:prstGeom prst="roundRect">
            <a:avLst>
              <a:gd name="adj" fmla="val 50000"/>
            </a:avLst>
          </a:prstGeom>
          <a:solidFill>
            <a:srgbClr val="6D3FC0"/>
          </a:solidFill>
          <a:ln/>
        </p:spPr>
      </p:sp>
      <p:sp>
        <p:nvSpPr>
          <p:cNvPr id="13" name="Text 11"/>
          <p:cNvSpPr/>
          <p:nvPr/>
        </p:nvSpPr>
        <p:spPr>
          <a:xfrm>
            <a:off x="10096500" y="1719461"/>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4.11</a:t>
            </a:r>
            <a:endParaRPr lang="en-US" sz="1400" dirty="0"/>
          </a:p>
        </p:txBody>
      </p:sp>
      <p:sp>
        <p:nvSpPr>
          <p:cNvPr id="14" name="Text 12"/>
          <p:cNvSpPr/>
          <p:nvPr/>
        </p:nvSpPr>
        <p:spPr>
          <a:xfrm>
            <a:off x="4038600" y="2086670"/>
            <a:ext cx="2158365"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Enjoyment and Engagement</a:t>
            </a:r>
            <a:endParaRPr lang="en-US" sz="1300" dirty="0"/>
          </a:p>
        </p:txBody>
      </p:sp>
      <p:sp>
        <p:nvSpPr>
          <p:cNvPr id="15" name="Shape 13"/>
          <p:cNvSpPr/>
          <p:nvPr/>
        </p:nvSpPr>
        <p:spPr>
          <a:xfrm>
            <a:off x="6235700" y="2099072"/>
            <a:ext cx="3810000" cy="165100"/>
          </a:xfrm>
          <a:prstGeom prst="roundRect">
            <a:avLst>
              <a:gd name="adj" fmla="val 50000"/>
            </a:avLst>
          </a:prstGeom>
          <a:solidFill>
            <a:srgbClr val="DDD2F0"/>
          </a:solidFill>
          <a:ln/>
        </p:spPr>
      </p:sp>
      <p:sp>
        <p:nvSpPr>
          <p:cNvPr id="16" name="Shape 14"/>
          <p:cNvSpPr/>
          <p:nvPr/>
        </p:nvSpPr>
        <p:spPr>
          <a:xfrm>
            <a:off x="6235700" y="2099072"/>
            <a:ext cx="2910840" cy="165100"/>
          </a:xfrm>
          <a:prstGeom prst="roundRect">
            <a:avLst>
              <a:gd name="adj" fmla="val 50000"/>
            </a:avLst>
          </a:prstGeom>
          <a:solidFill>
            <a:srgbClr val="8A63D2"/>
          </a:solidFill>
          <a:ln/>
        </p:spPr>
      </p:sp>
      <p:sp>
        <p:nvSpPr>
          <p:cNvPr id="17" name="Text 15"/>
          <p:cNvSpPr/>
          <p:nvPr/>
        </p:nvSpPr>
        <p:spPr>
          <a:xfrm>
            <a:off x="10096500" y="2057202"/>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3.82</a:t>
            </a:r>
            <a:endParaRPr lang="en-US" sz="1400" dirty="0"/>
          </a:p>
        </p:txBody>
      </p:sp>
      <p:sp>
        <p:nvSpPr>
          <p:cNvPr id="18" name="Text 16"/>
          <p:cNvSpPr/>
          <p:nvPr/>
        </p:nvSpPr>
        <p:spPr>
          <a:xfrm>
            <a:off x="4038600" y="2424410"/>
            <a:ext cx="2158365"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Attitude Toward Using</a:t>
            </a:r>
            <a:endParaRPr lang="en-US" sz="1300" dirty="0"/>
          </a:p>
        </p:txBody>
      </p:sp>
      <p:sp>
        <p:nvSpPr>
          <p:cNvPr id="19" name="Shape 17"/>
          <p:cNvSpPr/>
          <p:nvPr/>
        </p:nvSpPr>
        <p:spPr>
          <a:xfrm>
            <a:off x="6235700" y="2436813"/>
            <a:ext cx="3810000" cy="165100"/>
          </a:xfrm>
          <a:prstGeom prst="roundRect">
            <a:avLst>
              <a:gd name="adj" fmla="val 50000"/>
            </a:avLst>
          </a:prstGeom>
          <a:solidFill>
            <a:srgbClr val="DDD2F0"/>
          </a:solidFill>
          <a:ln/>
        </p:spPr>
      </p:sp>
      <p:sp>
        <p:nvSpPr>
          <p:cNvPr id="20" name="Shape 18"/>
          <p:cNvSpPr/>
          <p:nvPr/>
        </p:nvSpPr>
        <p:spPr>
          <a:xfrm>
            <a:off x="6235700" y="2436813"/>
            <a:ext cx="2865120" cy="165100"/>
          </a:xfrm>
          <a:prstGeom prst="roundRect">
            <a:avLst>
              <a:gd name="adj" fmla="val 50000"/>
            </a:avLst>
          </a:prstGeom>
          <a:solidFill>
            <a:srgbClr val="8A63D2"/>
          </a:solidFill>
          <a:ln/>
        </p:spPr>
      </p:sp>
      <p:sp>
        <p:nvSpPr>
          <p:cNvPr id="21" name="Text 19"/>
          <p:cNvSpPr/>
          <p:nvPr/>
        </p:nvSpPr>
        <p:spPr>
          <a:xfrm>
            <a:off x="10096500" y="2394942"/>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3.76</a:t>
            </a:r>
            <a:endParaRPr lang="en-US" sz="1400" dirty="0"/>
          </a:p>
        </p:txBody>
      </p:sp>
      <p:sp>
        <p:nvSpPr>
          <p:cNvPr id="22" name="Text 20"/>
          <p:cNvSpPr/>
          <p:nvPr/>
        </p:nvSpPr>
        <p:spPr>
          <a:xfrm>
            <a:off x="4038600" y="2762151"/>
            <a:ext cx="2158365"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Behavioral Intention</a:t>
            </a:r>
            <a:endParaRPr lang="en-US" sz="1300" dirty="0"/>
          </a:p>
        </p:txBody>
      </p:sp>
      <p:sp>
        <p:nvSpPr>
          <p:cNvPr id="23" name="Shape 21"/>
          <p:cNvSpPr/>
          <p:nvPr/>
        </p:nvSpPr>
        <p:spPr>
          <a:xfrm>
            <a:off x="6235700" y="2774553"/>
            <a:ext cx="3810000" cy="165100"/>
          </a:xfrm>
          <a:prstGeom prst="roundRect">
            <a:avLst>
              <a:gd name="adj" fmla="val 50000"/>
            </a:avLst>
          </a:prstGeom>
          <a:solidFill>
            <a:srgbClr val="DDD2F0"/>
          </a:solidFill>
          <a:ln/>
        </p:spPr>
      </p:sp>
      <p:sp>
        <p:nvSpPr>
          <p:cNvPr id="24" name="Shape 22"/>
          <p:cNvSpPr/>
          <p:nvPr/>
        </p:nvSpPr>
        <p:spPr>
          <a:xfrm>
            <a:off x="6235700" y="2774553"/>
            <a:ext cx="2659380" cy="165100"/>
          </a:xfrm>
          <a:prstGeom prst="roundRect">
            <a:avLst>
              <a:gd name="adj" fmla="val 50000"/>
            </a:avLst>
          </a:prstGeom>
          <a:solidFill>
            <a:srgbClr val="8A63D2"/>
          </a:solidFill>
          <a:ln/>
        </p:spPr>
      </p:sp>
      <p:sp>
        <p:nvSpPr>
          <p:cNvPr id="25" name="Text 23"/>
          <p:cNvSpPr/>
          <p:nvPr/>
        </p:nvSpPr>
        <p:spPr>
          <a:xfrm>
            <a:off x="10096500" y="2732683"/>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3.49</a:t>
            </a:r>
            <a:endParaRPr lang="en-US" sz="1400" dirty="0"/>
          </a:p>
        </p:txBody>
      </p:sp>
      <p:sp>
        <p:nvSpPr>
          <p:cNvPr id="26" name="Text 24"/>
          <p:cNvSpPr/>
          <p:nvPr/>
        </p:nvSpPr>
        <p:spPr>
          <a:xfrm>
            <a:off x="4038600" y="3099891"/>
            <a:ext cx="2158365"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Perceived Usefulness</a:t>
            </a:r>
            <a:endParaRPr lang="en-US" sz="1300" dirty="0"/>
          </a:p>
        </p:txBody>
      </p:sp>
      <p:sp>
        <p:nvSpPr>
          <p:cNvPr id="27" name="Shape 25"/>
          <p:cNvSpPr/>
          <p:nvPr/>
        </p:nvSpPr>
        <p:spPr>
          <a:xfrm>
            <a:off x="6235700" y="3112294"/>
            <a:ext cx="3810000" cy="165100"/>
          </a:xfrm>
          <a:prstGeom prst="roundRect">
            <a:avLst>
              <a:gd name="adj" fmla="val 50000"/>
            </a:avLst>
          </a:prstGeom>
          <a:solidFill>
            <a:srgbClr val="DDD2F0"/>
          </a:solidFill>
          <a:ln/>
        </p:spPr>
      </p:sp>
      <p:sp>
        <p:nvSpPr>
          <p:cNvPr id="28" name="Shape 26"/>
          <p:cNvSpPr/>
          <p:nvPr/>
        </p:nvSpPr>
        <p:spPr>
          <a:xfrm>
            <a:off x="6235700" y="3112294"/>
            <a:ext cx="2621280" cy="165100"/>
          </a:xfrm>
          <a:prstGeom prst="roundRect">
            <a:avLst>
              <a:gd name="adj" fmla="val 50000"/>
            </a:avLst>
          </a:prstGeom>
          <a:solidFill>
            <a:srgbClr val="B8670A"/>
          </a:solidFill>
          <a:ln/>
        </p:spPr>
      </p:sp>
      <p:sp>
        <p:nvSpPr>
          <p:cNvPr id="29" name="Text 27"/>
          <p:cNvSpPr/>
          <p:nvPr/>
        </p:nvSpPr>
        <p:spPr>
          <a:xfrm>
            <a:off x="10096500" y="3070423"/>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3.44</a:t>
            </a:r>
            <a:endParaRPr lang="en-US" sz="1400" dirty="0"/>
          </a:p>
        </p:txBody>
      </p:sp>
      <p:sp>
        <p:nvSpPr>
          <p:cNvPr id="30" name="Text 28"/>
          <p:cNvSpPr/>
          <p:nvPr/>
        </p:nvSpPr>
        <p:spPr>
          <a:xfrm>
            <a:off x="812800" y="431899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3358"/>
                </a:solidFill>
                <a:latin typeface="Rajdhani" pitchFamily="34" charset="0"/>
                <a:ea typeface="Rajdhani" pitchFamily="34" charset="-122"/>
                <a:cs typeface="Rajdhani" pitchFamily="34" charset="-120"/>
              </a:rPr>
              <a:t>Easy to use and fun, but weaker on usefulness. Lowest item: the value of independent thinking (3.25, Neutral).</a:t>
            </a:r>
            <a:endParaRPr lang="en-US" sz="1400" dirty="0"/>
          </a:p>
        </p:txBody>
      </p:sp>
      <p:sp>
        <p:nvSpPr>
          <p:cNvPr id="31" name="Text 2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275"/>
                </a:solidFill>
                <a:latin typeface="Rajdhani" pitchFamily="34" charset="0"/>
                <a:ea typeface="Rajdhani" pitchFamily="34" charset="-122"/>
                <a:cs typeface="Rajdhani" pitchFamily="34" charset="-120"/>
              </a:rPr>
              <a:t>Ctrl + Think · Capstone defense</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5275"/>
                </a:solidFill>
                <a:latin typeface="Rajdhani" pitchFamily="34" charset="0"/>
                <a:ea typeface="Rajdhani" pitchFamily="34" charset="-122"/>
                <a:cs typeface="Rajdhan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F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6D3FC0"/>
                </a:solidFill>
                <a:latin typeface="Rajdhani" pitchFamily="34" charset="0"/>
                <a:ea typeface="Rajdhani" pitchFamily="34" charset="-122"/>
                <a:cs typeface="Rajdhani" pitchFamily="34" charset="-120"/>
              </a:rPr>
              <a:t>THE RESULTS</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430"/>
                </a:solidFill>
                <a:latin typeface="Orbitron" pitchFamily="34" charset="0"/>
                <a:ea typeface="Orbitron" pitchFamily="34" charset="-122"/>
                <a:cs typeface="Orbitron" pitchFamily="34" charset="-120"/>
              </a:rPr>
              <a:t>Did the game help players reflect?</a:t>
            </a:r>
            <a:endParaRPr lang="en-US" sz="2800" dirty="0"/>
          </a:p>
        </p:txBody>
      </p:sp>
      <p:sp>
        <p:nvSpPr>
          <p:cNvPr id="4" name="Shape 2"/>
          <p:cNvSpPr/>
          <p:nvPr/>
        </p:nvSpPr>
        <p:spPr>
          <a:xfrm>
            <a:off x="812800" y="1528961"/>
            <a:ext cx="2794000" cy="2372221"/>
          </a:xfrm>
          <a:prstGeom prst="roundRect">
            <a:avLst>
              <a:gd name="adj" fmla="val 5354"/>
            </a:avLst>
          </a:prstGeom>
          <a:solidFill>
            <a:srgbClr val="2A1A52"/>
          </a:solidFill>
          <a:ln/>
        </p:spPr>
      </p:sp>
      <p:sp>
        <p:nvSpPr>
          <p:cNvPr id="5" name="Text 3"/>
          <p:cNvSpPr/>
          <p:nvPr/>
        </p:nvSpPr>
        <p:spPr>
          <a:xfrm>
            <a:off x="1041400" y="1757561"/>
            <a:ext cx="2406904"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BA6F7"/>
                </a:solidFill>
                <a:latin typeface="Rajdhani" pitchFamily="34" charset="0"/>
                <a:ea typeface="Rajdhani" pitchFamily="34" charset="-122"/>
                <a:cs typeface="Rajdhani" pitchFamily="34" charset="-120"/>
              </a:rPr>
              <a:t>LEARNING AND FEEDBACK</a:t>
            </a:r>
            <a:endParaRPr lang="en-US" sz="1300" dirty="0"/>
          </a:p>
        </p:txBody>
      </p:sp>
      <p:sp>
        <p:nvSpPr>
          <p:cNvPr id="6" name="Text 4"/>
          <p:cNvSpPr/>
          <p:nvPr/>
        </p:nvSpPr>
        <p:spPr>
          <a:xfrm>
            <a:off x="1041400" y="2052141"/>
            <a:ext cx="240690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FFFF"/>
                </a:solidFill>
                <a:latin typeface="Orbitron" pitchFamily="34" charset="0"/>
                <a:ea typeface="Orbitron" pitchFamily="34" charset="-122"/>
                <a:cs typeface="Orbitron" pitchFamily="34" charset="-120"/>
              </a:rPr>
              <a:t>3.63</a:t>
            </a:r>
            <a:endParaRPr lang="en-US" sz="6000" dirty="0"/>
          </a:p>
        </p:txBody>
      </p:sp>
      <p:sp>
        <p:nvSpPr>
          <p:cNvPr id="7" name="Text 5"/>
          <p:cNvSpPr/>
          <p:nvPr/>
        </p:nvSpPr>
        <p:spPr>
          <a:xfrm>
            <a:off x="1041400" y="2877641"/>
            <a:ext cx="240690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BA6F7"/>
                </a:solidFill>
                <a:latin typeface="Rajdhani" pitchFamily="34" charset="0"/>
                <a:ea typeface="Rajdhani" pitchFamily="34" charset="-122"/>
                <a:cs typeface="Rajdhani" pitchFamily="34" charset="-120"/>
              </a:rPr>
              <a:t>Agree</a:t>
            </a:r>
            <a:endParaRPr lang="en-US" sz="1700" dirty="0"/>
          </a:p>
        </p:txBody>
      </p:sp>
      <p:sp>
        <p:nvSpPr>
          <p:cNvPr id="8" name="Text 6"/>
          <p:cNvSpPr/>
          <p:nvPr/>
        </p:nvSpPr>
        <p:spPr>
          <a:xfrm>
            <a:off x="1041400" y="3243362"/>
            <a:ext cx="240690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DD6EE"/>
                </a:solidFill>
                <a:latin typeface="Rajdhani" pitchFamily="34" charset="0"/>
                <a:ea typeface="Rajdhani" pitchFamily="34" charset="-122"/>
                <a:cs typeface="Rajdhani" pitchFamily="34" charset="-120"/>
              </a:rPr>
              <a:t>SD = 0.69. Supports the second objective.</a:t>
            </a:r>
            <a:endParaRPr lang="en-US" sz="1300" dirty="0"/>
          </a:p>
        </p:txBody>
      </p:sp>
      <p:sp>
        <p:nvSpPr>
          <p:cNvPr id="9" name="Shape 7"/>
          <p:cNvSpPr/>
          <p:nvPr/>
        </p:nvSpPr>
        <p:spPr>
          <a:xfrm>
            <a:off x="3816350" y="1535311"/>
            <a:ext cx="7556500" cy="2359521"/>
          </a:xfrm>
          <a:prstGeom prst="roundRect">
            <a:avLst>
              <a:gd name="adj" fmla="val 4575"/>
            </a:avLst>
          </a:prstGeom>
          <a:solidFill>
            <a:srgbClr val="FBF9FE"/>
          </a:solidFill>
          <a:ln w="12700">
            <a:solidFill>
              <a:srgbClr val="D9CDEF"/>
            </a:solidFill>
            <a:prstDash val="solid"/>
          </a:ln>
        </p:spPr>
      </p:sp>
      <p:sp>
        <p:nvSpPr>
          <p:cNvPr id="10" name="Text 8"/>
          <p:cNvSpPr/>
          <p:nvPr/>
        </p:nvSpPr>
        <p:spPr>
          <a:xfrm>
            <a:off x="4038600" y="1719461"/>
            <a:ext cx="248539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Think critically about AI use</a:t>
            </a:r>
            <a:endParaRPr lang="en-US" sz="1300" dirty="0"/>
          </a:p>
        </p:txBody>
      </p:sp>
      <p:sp>
        <p:nvSpPr>
          <p:cNvPr id="11" name="Shape 9"/>
          <p:cNvSpPr/>
          <p:nvPr/>
        </p:nvSpPr>
        <p:spPr>
          <a:xfrm>
            <a:off x="6553200" y="1731863"/>
            <a:ext cx="3556000" cy="165100"/>
          </a:xfrm>
          <a:prstGeom prst="roundRect">
            <a:avLst>
              <a:gd name="adj" fmla="val 50000"/>
            </a:avLst>
          </a:prstGeom>
          <a:solidFill>
            <a:srgbClr val="DDD2F0"/>
          </a:solidFill>
          <a:ln/>
        </p:spPr>
      </p:sp>
      <p:sp>
        <p:nvSpPr>
          <p:cNvPr id="12" name="Shape 10"/>
          <p:cNvSpPr/>
          <p:nvPr/>
        </p:nvSpPr>
        <p:spPr>
          <a:xfrm>
            <a:off x="6553200" y="1731863"/>
            <a:ext cx="2652776" cy="165100"/>
          </a:xfrm>
          <a:prstGeom prst="roundRect">
            <a:avLst>
              <a:gd name="adj" fmla="val 50000"/>
            </a:avLst>
          </a:prstGeom>
          <a:solidFill>
            <a:srgbClr val="6D3FC0"/>
          </a:solidFill>
          <a:ln/>
        </p:spPr>
      </p:sp>
      <p:sp>
        <p:nvSpPr>
          <p:cNvPr id="13" name="Text 11"/>
          <p:cNvSpPr/>
          <p:nvPr/>
        </p:nvSpPr>
        <p:spPr>
          <a:xfrm>
            <a:off x="10160000" y="1689993"/>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3.73</a:t>
            </a:r>
            <a:endParaRPr lang="en-US" sz="1400" dirty="0"/>
          </a:p>
        </p:txBody>
      </p:sp>
      <p:sp>
        <p:nvSpPr>
          <p:cNvPr id="14" name="Text 12"/>
          <p:cNvSpPr/>
          <p:nvPr/>
        </p:nvSpPr>
        <p:spPr>
          <a:xfrm>
            <a:off x="4038600" y="2057202"/>
            <a:ext cx="2485390" cy="405011"/>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Understanding my own work matters</a:t>
            </a:r>
            <a:endParaRPr lang="en-US" sz="1300" dirty="0"/>
          </a:p>
        </p:txBody>
      </p:sp>
      <p:sp>
        <p:nvSpPr>
          <p:cNvPr id="15" name="Shape 13"/>
          <p:cNvSpPr/>
          <p:nvPr/>
        </p:nvSpPr>
        <p:spPr>
          <a:xfrm>
            <a:off x="6553200" y="2164457"/>
            <a:ext cx="3556000" cy="165100"/>
          </a:xfrm>
          <a:prstGeom prst="roundRect">
            <a:avLst>
              <a:gd name="adj" fmla="val 50000"/>
            </a:avLst>
          </a:prstGeom>
          <a:solidFill>
            <a:srgbClr val="DDD2F0"/>
          </a:solidFill>
          <a:ln/>
        </p:spPr>
      </p:sp>
      <p:sp>
        <p:nvSpPr>
          <p:cNvPr id="16" name="Shape 14"/>
          <p:cNvSpPr/>
          <p:nvPr/>
        </p:nvSpPr>
        <p:spPr>
          <a:xfrm>
            <a:off x="6553200" y="2164457"/>
            <a:ext cx="2624328" cy="165100"/>
          </a:xfrm>
          <a:prstGeom prst="roundRect">
            <a:avLst>
              <a:gd name="adj" fmla="val 50000"/>
            </a:avLst>
          </a:prstGeom>
          <a:solidFill>
            <a:srgbClr val="8A63D2"/>
          </a:solidFill>
          <a:ln/>
        </p:spPr>
      </p:sp>
      <p:sp>
        <p:nvSpPr>
          <p:cNvPr id="17" name="Text 15"/>
          <p:cNvSpPr/>
          <p:nvPr/>
        </p:nvSpPr>
        <p:spPr>
          <a:xfrm>
            <a:off x="10160000" y="2122587"/>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3.69</a:t>
            </a:r>
            <a:endParaRPr lang="en-US" sz="1400" dirty="0"/>
          </a:p>
        </p:txBody>
      </p:sp>
      <p:sp>
        <p:nvSpPr>
          <p:cNvPr id="18" name="Text 16"/>
          <p:cNvSpPr/>
          <p:nvPr/>
        </p:nvSpPr>
        <p:spPr>
          <a:xfrm>
            <a:off x="4038600" y="2555180"/>
            <a:ext cx="248539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Can help other students reflect</a:t>
            </a:r>
            <a:endParaRPr lang="en-US" sz="1300" dirty="0"/>
          </a:p>
        </p:txBody>
      </p:sp>
      <p:sp>
        <p:nvSpPr>
          <p:cNvPr id="19" name="Shape 17"/>
          <p:cNvSpPr/>
          <p:nvPr/>
        </p:nvSpPr>
        <p:spPr>
          <a:xfrm>
            <a:off x="6553200" y="2567583"/>
            <a:ext cx="3556000" cy="165100"/>
          </a:xfrm>
          <a:prstGeom prst="roundRect">
            <a:avLst>
              <a:gd name="adj" fmla="val 50000"/>
            </a:avLst>
          </a:prstGeom>
          <a:solidFill>
            <a:srgbClr val="DDD2F0"/>
          </a:solidFill>
          <a:ln/>
        </p:spPr>
      </p:sp>
      <p:sp>
        <p:nvSpPr>
          <p:cNvPr id="20" name="Shape 18"/>
          <p:cNvSpPr/>
          <p:nvPr/>
        </p:nvSpPr>
        <p:spPr>
          <a:xfrm>
            <a:off x="6553200" y="2567583"/>
            <a:ext cx="2610104" cy="165100"/>
          </a:xfrm>
          <a:prstGeom prst="roundRect">
            <a:avLst>
              <a:gd name="adj" fmla="val 50000"/>
            </a:avLst>
          </a:prstGeom>
          <a:solidFill>
            <a:srgbClr val="8A63D2"/>
          </a:solidFill>
          <a:ln/>
        </p:spPr>
      </p:sp>
      <p:sp>
        <p:nvSpPr>
          <p:cNvPr id="21" name="Text 19"/>
          <p:cNvSpPr/>
          <p:nvPr/>
        </p:nvSpPr>
        <p:spPr>
          <a:xfrm>
            <a:off x="10160000" y="2525713"/>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3.67</a:t>
            </a:r>
            <a:endParaRPr lang="en-US" sz="1400" dirty="0"/>
          </a:p>
        </p:txBody>
      </p:sp>
      <p:sp>
        <p:nvSpPr>
          <p:cNvPr id="22" name="Text 20"/>
          <p:cNvSpPr/>
          <p:nvPr/>
        </p:nvSpPr>
        <p:spPr>
          <a:xfrm>
            <a:off x="4038600" y="2892921"/>
            <a:ext cx="248539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Achieved its educational purpose</a:t>
            </a:r>
            <a:endParaRPr lang="en-US" sz="1300" dirty="0"/>
          </a:p>
        </p:txBody>
      </p:sp>
      <p:sp>
        <p:nvSpPr>
          <p:cNvPr id="23" name="Shape 21"/>
          <p:cNvSpPr/>
          <p:nvPr/>
        </p:nvSpPr>
        <p:spPr>
          <a:xfrm>
            <a:off x="6553200" y="2905323"/>
            <a:ext cx="3556000" cy="165100"/>
          </a:xfrm>
          <a:prstGeom prst="roundRect">
            <a:avLst>
              <a:gd name="adj" fmla="val 50000"/>
            </a:avLst>
          </a:prstGeom>
          <a:solidFill>
            <a:srgbClr val="DDD2F0"/>
          </a:solidFill>
          <a:ln/>
        </p:spPr>
      </p:sp>
      <p:sp>
        <p:nvSpPr>
          <p:cNvPr id="24" name="Shape 22"/>
          <p:cNvSpPr/>
          <p:nvPr/>
        </p:nvSpPr>
        <p:spPr>
          <a:xfrm>
            <a:off x="6553200" y="2905323"/>
            <a:ext cx="2581656" cy="165100"/>
          </a:xfrm>
          <a:prstGeom prst="roundRect">
            <a:avLst>
              <a:gd name="adj" fmla="val 50000"/>
            </a:avLst>
          </a:prstGeom>
          <a:solidFill>
            <a:srgbClr val="8A63D2"/>
          </a:solidFill>
          <a:ln/>
        </p:spPr>
      </p:sp>
      <p:sp>
        <p:nvSpPr>
          <p:cNvPr id="25" name="Text 23"/>
          <p:cNvSpPr/>
          <p:nvPr/>
        </p:nvSpPr>
        <p:spPr>
          <a:xfrm>
            <a:off x="10160000" y="2863453"/>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3.63</a:t>
            </a:r>
            <a:endParaRPr lang="en-US" sz="1400" dirty="0"/>
          </a:p>
        </p:txBody>
      </p:sp>
      <p:sp>
        <p:nvSpPr>
          <p:cNvPr id="26" name="Text 24"/>
          <p:cNvSpPr/>
          <p:nvPr/>
        </p:nvSpPr>
        <p:spPr>
          <a:xfrm>
            <a:off x="4038600" y="3230662"/>
            <a:ext cx="2485390" cy="215205"/>
          </a:xfrm>
          <a:prstGeom prst="rect">
            <a:avLst/>
          </a:prstGeom>
          <a:noFill/>
          <a:ln/>
        </p:spPr>
        <p:txBody>
          <a:bodyPr wrap="square" lIns="0" tIns="0" rIns="0" bIns="0" rtlCol="0" anchor="t">
            <a:normAutofit/>
          </a:bodyPr>
          <a:lstStyle/>
          <a:p>
            <a:pPr algn="l" indent="0" marL="0">
              <a:lnSpc>
                <a:spcPts val="1495"/>
              </a:lnSpc>
              <a:buNone/>
            </a:pPr>
            <a:r>
              <a:rPr lang="en-US" sz="1300" dirty="0">
                <a:solidFill>
                  <a:srgbClr val="1B1430"/>
                </a:solidFill>
                <a:latin typeface="Rajdhani" pitchFamily="34" charset="0"/>
                <a:ea typeface="Rajdhani" pitchFamily="34" charset="-122"/>
                <a:cs typeface="Rajdhani" pitchFamily="34" charset="-120"/>
              </a:rPr>
              <a:t>Aware of risks of AI dependency</a:t>
            </a:r>
            <a:endParaRPr lang="en-US" sz="1300" dirty="0"/>
          </a:p>
        </p:txBody>
      </p:sp>
      <p:sp>
        <p:nvSpPr>
          <p:cNvPr id="27" name="Shape 25"/>
          <p:cNvSpPr/>
          <p:nvPr/>
        </p:nvSpPr>
        <p:spPr>
          <a:xfrm>
            <a:off x="6553200" y="3243064"/>
            <a:ext cx="3556000" cy="165100"/>
          </a:xfrm>
          <a:prstGeom prst="roundRect">
            <a:avLst>
              <a:gd name="adj" fmla="val 50000"/>
            </a:avLst>
          </a:prstGeom>
          <a:solidFill>
            <a:srgbClr val="DDD2F0"/>
          </a:solidFill>
          <a:ln/>
        </p:spPr>
      </p:sp>
      <p:sp>
        <p:nvSpPr>
          <p:cNvPr id="28" name="Shape 26"/>
          <p:cNvSpPr/>
          <p:nvPr/>
        </p:nvSpPr>
        <p:spPr>
          <a:xfrm>
            <a:off x="6553200" y="3243064"/>
            <a:ext cx="2446528" cy="165100"/>
          </a:xfrm>
          <a:prstGeom prst="roundRect">
            <a:avLst>
              <a:gd name="adj" fmla="val 50000"/>
            </a:avLst>
          </a:prstGeom>
          <a:solidFill>
            <a:srgbClr val="8A63D2"/>
          </a:solidFill>
          <a:ln/>
        </p:spPr>
      </p:sp>
      <p:sp>
        <p:nvSpPr>
          <p:cNvPr id="29" name="Text 27"/>
          <p:cNvSpPr/>
          <p:nvPr/>
        </p:nvSpPr>
        <p:spPr>
          <a:xfrm>
            <a:off x="10160000" y="3201194"/>
            <a:ext cx="49530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B1430"/>
                </a:solidFill>
                <a:latin typeface="Rajdhani" pitchFamily="34" charset="0"/>
                <a:ea typeface="Rajdhani" pitchFamily="34" charset="-122"/>
                <a:cs typeface="Rajdhani" pitchFamily="34" charset="-120"/>
              </a:rPr>
              <a:t>3.44</a:t>
            </a:r>
            <a:endParaRPr lang="en-US" sz="1400" dirty="0"/>
          </a:p>
        </p:txBody>
      </p:sp>
      <p:sp>
        <p:nvSpPr>
          <p:cNvPr id="30" name="Text 28"/>
          <p:cNvSpPr/>
          <p:nvPr/>
        </p:nvSpPr>
        <p:spPr>
          <a:xfrm>
            <a:off x="819150" y="4110732"/>
            <a:ext cx="10553700" cy="506710"/>
          </a:xfrm>
          <a:prstGeom prst="roundRect">
            <a:avLst>
              <a:gd name="adj" fmla="val 18798"/>
            </a:avLst>
          </a:prstGeom>
          <a:solidFill>
            <a:srgbClr val="FFF3E0"/>
          </a:solidFill>
          <a:ln w="12700">
            <a:solidFill>
              <a:srgbClr val="E8C48A"/>
            </a:solidFill>
            <a:prstDash val="solid"/>
          </a:ln>
        </p:spPr>
        <p:txBody>
          <a:bodyPr wrap="square" lIns="156252" tIns="105452" rIns="0" bIns="80052" rtlCol="0" anchor="t">
            <a:normAutofit/>
          </a:bodyPr>
          <a:lstStyle/>
          <a:p>
            <a:pPr algn="l" indent="0" marL="0">
              <a:lnSpc>
                <a:spcPts val="1890"/>
              </a:lnSpc>
              <a:buNone/>
            </a:pPr>
            <a:r>
              <a:rPr lang="en-US" sz="1400" b="1" dirty="0">
                <a:solidFill>
                  <a:srgbClr val="5A3A00"/>
                </a:solidFill>
                <a:latin typeface="Rajdhani" pitchFamily="34" charset="0"/>
                <a:ea typeface="Rajdhani" pitchFamily="34" charset="-122"/>
                <a:cs typeface="Rajdhani" pitchFamily="34" charset="-120"/>
              </a:rPr>
              <a:t>Keep in mind:</a:t>
            </a:r>
            <a:r>
              <a:rPr lang="en-US" sz="1400" dirty="0">
                <a:solidFill>
                  <a:srgbClr val="5A3A00"/>
                </a:solidFill>
                <a:latin typeface="Rajdhani" pitchFamily="34" charset="0"/>
                <a:ea typeface="Rajdhani" pitchFamily="34" charset="-122"/>
                <a:cs typeface="Rajdhani" pitchFamily="34" charset="-120"/>
              </a:rPr>
              <a:t> these are self-reported perceptions after one play. They show what students felt, not a measured change in behavior.</a:t>
            </a:r>
            <a:endParaRPr lang="en-US" sz="1400" dirty="0"/>
          </a:p>
        </p:txBody>
      </p:sp>
      <p:sp>
        <p:nvSpPr>
          <p:cNvPr id="31" name="Text 2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275"/>
                </a:solidFill>
                <a:latin typeface="Rajdhani" pitchFamily="34" charset="0"/>
                <a:ea typeface="Rajdhani" pitchFamily="34" charset="-122"/>
                <a:cs typeface="Rajdhani" pitchFamily="34" charset="-120"/>
              </a:rPr>
              <a:t>Ctrl + Think · Capstone defense</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5275"/>
                </a:solidFill>
                <a:latin typeface="Rajdhani" pitchFamily="34" charset="0"/>
                <a:ea typeface="Rajdhani" pitchFamily="34" charset="-122"/>
                <a:cs typeface="Rajdhan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F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6D3FC0"/>
                </a:solidFill>
                <a:latin typeface="Rajdhani" pitchFamily="34" charset="0"/>
                <a:ea typeface="Rajdhani" pitchFamily="34" charset="-122"/>
                <a:cs typeface="Rajdhani" pitchFamily="34" charset="-120"/>
              </a:rPr>
              <a:t>WRAP UP</a:t>
            </a:r>
            <a:endParaRPr lang="en-US" sz="1400" dirty="0"/>
          </a:p>
        </p:txBody>
      </p:sp>
      <p:sp>
        <p:nvSpPr>
          <p:cNvPr id="3" name="Text 1"/>
          <p:cNvSpPr/>
          <p:nvPr>
            <p:ph type="title"/>
          </p:nvPr>
        </p:nvSpPr>
        <p:spPr>
          <a:xfrm>
            <a:off x="812800" y="9346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430"/>
                </a:solidFill>
                <a:latin typeface="Orbitron" pitchFamily="34" charset="0"/>
                <a:ea typeface="Orbitron" pitchFamily="34" charset="-122"/>
                <a:cs typeface="Orbitron" pitchFamily="34" charset="-120"/>
              </a:rPr>
              <a:t>Conclusion</a:t>
            </a:r>
            <a:endParaRPr lang="en-US" sz="2800" dirty="0"/>
          </a:p>
        </p:txBody>
      </p:sp>
      <p:sp>
        <p:nvSpPr>
          <p:cNvPr id="4" name="Shape 2"/>
          <p:cNvSpPr/>
          <p:nvPr/>
        </p:nvSpPr>
        <p:spPr>
          <a:xfrm>
            <a:off x="819150" y="1535311"/>
            <a:ext cx="3390900" cy="1931491"/>
          </a:xfrm>
          <a:prstGeom prst="roundRect">
            <a:avLst>
              <a:gd name="adj" fmla="val 5589"/>
            </a:avLst>
          </a:prstGeom>
          <a:solidFill>
            <a:srgbClr val="FBF9FE"/>
          </a:solidFill>
          <a:ln w="12700">
            <a:solidFill>
              <a:srgbClr val="D9CDEF"/>
            </a:solidFill>
            <a:prstDash val="solid"/>
          </a:ln>
        </p:spPr>
      </p:sp>
      <p:sp>
        <p:nvSpPr>
          <p:cNvPr id="5" name="Text 3"/>
          <p:cNvSpPr/>
          <p:nvPr/>
        </p:nvSpPr>
        <p:spPr>
          <a:xfrm>
            <a:off x="1028700" y="1732161"/>
            <a:ext cx="306095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D3FC0"/>
                </a:solidFill>
                <a:latin typeface="Orbitron" pitchFamily="34" charset="0"/>
                <a:ea typeface="Orbitron" pitchFamily="34" charset="-122"/>
                <a:cs typeface="Orbitron" pitchFamily="34" charset="-120"/>
              </a:rPr>
              <a:t>1</a:t>
            </a:r>
            <a:endParaRPr lang="en-US" sz="2200" dirty="0"/>
          </a:p>
        </p:txBody>
      </p:sp>
      <p:sp>
        <p:nvSpPr>
          <p:cNvPr id="6" name="Text 4"/>
          <p:cNvSpPr/>
          <p:nvPr/>
        </p:nvSpPr>
        <p:spPr>
          <a:xfrm>
            <a:off x="1028700" y="2199481"/>
            <a:ext cx="306095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430"/>
                </a:solidFill>
                <a:latin typeface="Rajdhani" pitchFamily="34" charset="0"/>
                <a:ea typeface="Rajdhani" pitchFamily="34" charset="-122"/>
                <a:cs typeface="Rajdhani" pitchFamily="34" charset="-120"/>
              </a:rPr>
              <a:t>Game developed</a:t>
            </a:r>
            <a:endParaRPr lang="en-US" sz="1800" dirty="0"/>
          </a:p>
        </p:txBody>
      </p:sp>
      <p:sp>
        <p:nvSpPr>
          <p:cNvPr id="7" name="Text 5"/>
          <p:cNvSpPr/>
          <p:nvPr/>
        </p:nvSpPr>
        <p:spPr>
          <a:xfrm>
            <a:off x="1028700" y="2549922"/>
            <a:ext cx="306095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3358"/>
                </a:solidFill>
                <a:latin typeface="Rajdhani" pitchFamily="34" charset="0"/>
                <a:ea typeface="Rajdhani" pitchFamily="34" charset="-122"/>
                <a:cs typeface="Rajdhani" pitchFamily="34" charset="-120"/>
              </a:rPr>
              <a:t>Ctrl + Think shows AI dependency through branching routes, characters, decisions and 2D art.</a:t>
            </a:r>
            <a:endParaRPr lang="en-US" sz="1400" dirty="0"/>
          </a:p>
        </p:txBody>
      </p:sp>
      <p:sp>
        <p:nvSpPr>
          <p:cNvPr id="8" name="Shape 6"/>
          <p:cNvSpPr/>
          <p:nvPr/>
        </p:nvSpPr>
        <p:spPr>
          <a:xfrm>
            <a:off x="4400550" y="1535311"/>
            <a:ext cx="3390900" cy="1931491"/>
          </a:xfrm>
          <a:prstGeom prst="roundRect">
            <a:avLst>
              <a:gd name="adj" fmla="val 5589"/>
            </a:avLst>
          </a:prstGeom>
          <a:solidFill>
            <a:srgbClr val="FBF9FE"/>
          </a:solidFill>
          <a:ln w="12700">
            <a:solidFill>
              <a:srgbClr val="D9CDEF"/>
            </a:solidFill>
            <a:prstDash val="solid"/>
          </a:ln>
        </p:spPr>
      </p:sp>
      <p:sp>
        <p:nvSpPr>
          <p:cNvPr id="9" name="Text 7"/>
          <p:cNvSpPr/>
          <p:nvPr/>
        </p:nvSpPr>
        <p:spPr>
          <a:xfrm>
            <a:off x="4610100" y="1732161"/>
            <a:ext cx="306095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D3FC0"/>
                </a:solidFill>
                <a:latin typeface="Orbitron" pitchFamily="34" charset="0"/>
                <a:ea typeface="Orbitron" pitchFamily="34" charset="-122"/>
                <a:cs typeface="Orbitron" pitchFamily="34" charset="-120"/>
              </a:rPr>
              <a:t>2</a:t>
            </a:r>
            <a:endParaRPr lang="en-US" sz="2200" dirty="0"/>
          </a:p>
        </p:txBody>
      </p:sp>
      <p:sp>
        <p:nvSpPr>
          <p:cNvPr id="10" name="Text 8"/>
          <p:cNvSpPr/>
          <p:nvPr/>
        </p:nvSpPr>
        <p:spPr>
          <a:xfrm>
            <a:off x="4610100" y="2199481"/>
            <a:ext cx="306095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430"/>
                </a:solidFill>
                <a:latin typeface="Rajdhani" pitchFamily="34" charset="0"/>
                <a:ea typeface="Rajdhani" pitchFamily="34" charset="-122"/>
                <a:cs typeface="Rajdhani" pitchFamily="34" charset="-120"/>
              </a:rPr>
              <a:t>Supports reflection</a:t>
            </a:r>
            <a:endParaRPr lang="en-US" sz="1800" dirty="0"/>
          </a:p>
        </p:txBody>
      </p:sp>
      <p:sp>
        <p:nvSpPr>
          <p:cNvPr id="11" name="Text 9"/>
          <p:cNvSpPr/>
          <p:nvPr/>
        </p:nvSpPr>
        <p:spPr>
          <a:xfrm>
            <a:off x="4610100" y="2549922"/>
            <a:ext cx="306095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3358"/>
                </a:solidFill>
                <a:latin typeface="Rajdhani" pitchFamily="34" charset="0"/>
                <a:ea typeface="Rajdhani" pitchFamily="34" charset="-122"/>
                <a:cs typeface="Rajdhani" pitchFamily="34" charset="-120"/>
              </a:rPr>
              <a:t>Learning and feedback scored 3.63 (Agree). Results are self-reported, not measured behavior change.</a:t>
            </a:r>
            <a:endParaRPr lang="en-US" sz="1400" dirty="0"/>
          </a:p>
        </p:txBody>
      </p:sp>
      <p:sp>
        <p:nvSpPr>
          <p:cNvPr id="12" name="Shape 10"/>
          <p:cNvSpPr/>
          <p:nvPr/>
        </p:nvSpPr>
        <p:spPr>
          <a:xfrm>
            <a:off x="7981950" y="1535311"/>
            <a:ext cx="3390900" cy="1931491"/>
          </a:xfrm>
          <a:prstGeom prst="roundRect">
            <a:avLst>
              <a:gd name="adj" fmla="val 5589"/>
            </a:avLst>
          </a:prstGeom>
          <a:solidFill>
            <a:srgbClr val="FBF9FE"/>
          </a:solidFill>
          <a:ln w="12700">
            <a:solidFill>
              <a:srgbClr val="D9CDEF"/>
            </a:solidFill>
            <a:prstDash val="solid"/>
          </a:ln>
        </p:spPr>
      </p:sp>
      <p:sp>
        <p:nvSpPr>
          <p:cNvPr id="13" name="Text 11"/>
          <p:cNvSpPr/>
          <p:nvPr/>
        </p:nvSpPr>
        <p:spPr>
          <a:xfrm>
            <a:off x="8191500" y="1732161"/>
            <a:ext cx="306095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D3FC0"/>
                </a:solidFill>
                <a:latin typeface="Orbitron" pitchFamily="34" charset="0"/>
                <a:ea typeface="Orbitron" pitchFamily="34" charset="-122"/>
                <a:cs typeface="Orbitron" pitchFamily="34" charset="-120"/>
              </a:rPr>
              <a:t>3</a:t>
            </a:r>
            <a:endParaRPr lang="en-US" sz="2200" dirty="0"/>
          </a:p>
        </p:txBody>
      </p:sp>
      <p:sp>
        <p:nvSpPr>
          <p:cNvPr id="14" name="Text 12"/>
          <p:cNvSpPr/>
          <p:nvPr/>
        </p:nvSpPr>
        <p:spPr>
          <a:xfrm>
            <a:off x="8191500" y="2199481"/>
            <a:ext cx="306095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430"/>
                </a:solidFill>
                <a:latin typeface="Rajdhani" pitchFamily="34" charset="0"/>
                <a:ea typeface="Rajdhani" pitchFamily="34" charset="-122"/>
                <a:cs typeface="Rajdhani" pitchFamily="34" charset="-120"/>
              </a:rPr>
              <a:t>Highly accepted</a:t>
            </a:r>
            <a:endParaRPr lang="en-US" sz="1800" dirty="0"/>
          </a:p>
        </p:txBody>
      </p:sp>
      <p:sp>
        <p:nvSpPr>
          <p:cNvPr id="15" name="Text 13"/>
          <p:cNvSpPr/>
          <p:nvPr/>
        </p:nvSpPr>
        <p:spPr>
          <a:xfrm>
            <a:off x="8191500" y="2549922"/>
            <a:ext cx="306095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3358"/>
                </a:solidFill>
                <a:latin typeface="Rajdhani" pitchFamily="34" charset="0"/>
                <a:ea typeface="Rajdhani" pitchFamily="34" charset="-122"/>
                <a:cs typeface="Rajdhani" pitchFamily="34" charset="-120"/>
              </a:rPr>
              <a:t>All five TAM constructs were Agree, with an overall mean of 3.73 and Good reliability (0.873).</a:t>
            </a:r>
            <a:endParaRPr lang="en-US" sz="1400" dirty="0"/>
          </a:p>
        </p:txBody>
      </p:sp>
      <p:sp>
        <p:nvSpPr>
          <p:cNvPr id="16" name="Text 14"/>
          <p:cNvSpPr/>
          <p:nvPr/>
        </p:nvSpPr>
        <p:spPr>
          <a:xfrm>
            <a:off x="812800" y="3676352"/>
            <a:ext cx="10566400" cy="929481"/>
          </a:xfrm>
          <a:prstGeom prst="roundRect">
            <a:avLst>
              <a:gd name="adj" fmla="val 13664"/>
            </a:avLst>
          </a:prstGeom>
          <a:solidFill>
            <a:srgbClr val="2A1A52"/>
          </a:solidFill>
          <a:ln/>
        </p:spPr>
        <p:txBody>
          <a:bodyPr wrap="square" lIns="216803" tIns="153303" rIns="0" bIns="127903" rtlCol="0" anchor="t">
            <a:normAutofit/>
          </a:bodyPr>
          <a:lstStyle/>
          <a:p>
            <a:pPr algn="l" indent="0" marL="0">
              <a:lnSpc>
                <a:spcPts val="2160"/>
              </a:lnSpc>
              <a:buNone/>
            </a:pPr>
            <a:r>
              <a:rPr lang="en-US" sz="1600" dirty="0">
                <a:solidFill>
                  <a:srgbClr val="F4EFFF"/>
                </a:solidFill>
                <a:latin typeface="Rajdhani" pitchFamily="34" charset="0"/>
                <a:ea typeface="Rajdhani" pitchFamily="34" charset="-122"/>
                <a:cs typeface="Rajdhani" pitchFamily="34" charset="-120"/>
              </a:rPr>
              <a:t>Ctrl + Think is an acceptable and usable educational game for reflecting on AI dependency, and a starting point for promoting balanced and responsible AI use in learning.</a:t>
            </a:r>
            <a:endParaRPr lang="en-US" sz="16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275"/>
                </a:solidFill>
                <a:latin typeface="Rajdhani" pitchFamily="34" charset="0"/>
                <a:ea typeface="Rajdhani" pitchFamily="34" charset="-122"/>
                <a:cs typeface="Rajdhani" pitchFamily="34" charset="-120"/>
              </a:rPr>
              <a:t>Ctrl + Think · Capstone defense</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5275"/>
                </a:solidFill>
                <a:latin typeface="Rajdhani" pitchFamily="34" charset="0"/>
                <a:ea typeface="Rajdhani" pitchFamily="34" charset="-122"/>
                <a:cs typeface="Rajdhan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0F1F"/>
        </a:solidFill>
      </p:bgPr>
    </p:bg>
    <p:spTree>
      <p:nvGrpSpPr>
        <p:cNvPr id="1" name=""/>
        <p:cNvGrpSpPr/>
        <p:nvPr/>
      </p:nvGrpSpPr>
      <p:grpSpPr>
        <a:xfrm>
          <a:off x="0" y="0"/>
          <a:ext cx="0" cy="0"/>
          <a:chOff x="0" y="0"/>
          <a:chExt cx="0" cy="0"/>
        </a:xfrm>
      </p:grpSpPr>
      <p:sp>
        <p:nvSpPr>
          <p:cNvPr id="2" name="Text 0"/>
          <p:cNvSpPr/>
          <p:nvPr/>
        </p:nvSpPr>
        <p:spPr>
          <a:xfrm>
            <a:off x="812800" y="1667570"/>
            <a:ext cx="5494020"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CBA6F7"/>
                </a:solidFill>
                <a:latin typeface="Rajdhani" pitchFamily="34" charset="0"/>
                <a:ea typeface="Rajdhani" pitchFamily="34" charset="-122"/>
                <a:cs typeface="Rajdhani" pitchFamily="34" charset="-120"/>
              </a:rPr>
              <a:t>CTRL + THINK</a:t>
            </a:r>
            <a:endParaRPr lang="en-US" sz="1400" dirty="0"/>
          </a:p>
        </p:txBody>
      </p:sp>
      <p:sp>
        <p:nvSpPr>
          <p:cNvPr id="3" name="Text 1"/>
          <p:cNvSpPr/>
          <p:nvPr>
            <p:ph type="title"/>
          </p:nvPr>
        </p:nvSpPr>
        <p:spPr>
          <a:xfrm>
            <a:off x="812800" y="2068810"/>
            <a:ext cx="549402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4EFFF"/>
                </a:solidFill>
                <a:latin typeface="Orbitron" pitchFamily="34" charset="0"/>
                <a:ea typeface="Orbitron" pitchFamily="34" charset="-122"/>
                <a:cs typeface="Orbitron" pitchFamily="34" charset="-120"/>
              </a:rPr>
              <a:t>Thank you</a:t>
            </a:r>
            <a:endParaRPr lang="en-US" sz="4800" dirty="0"/>
          </a:p>
        </p:txBody>
      </p:sp>
      <p:sp>
        <p:nvSpPr>
          <p:cNvPr id="4" name="Text 2"/>
          <p:cNvSpPr/>
          <p:nvPr/>
        </p:nvSpPr>
        <p:spPr>
          <a:xfrm>
            <a:off x="812800" y="2861270"/>
            <a:ext cx="54940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BA6F7"/>
                </a:solidFill>
                <a:latin typeface="Rajdhani" pitchFamily="34" charset="0"/>
                <a:ea typeface="Rajdhani" pitchFamily="34" charset="-122"/>
                <a:cs typeface="Rajdhani" pitchFamily="34" charset="-120"/>
              </a:rPr>
              <a:t>Questions?</a:t>
            </a:r>
            <a:endParaRPr lang="en-US" sz="2000" dirty="0"/>
          </a:p>
        </p:txBody>
      </p:sp>
      <p:sp>
        <p:nvSpPr>
          <p:cNvPr id="5" name="Text 3"/>
          <p:cNvSpPr/>
          <p:nvPr/>
        </p:nvSpPr>
        <p:spPr>
          <a:xfrm>
            <a:off x="812800" y="3369270"/>
            <a:ext cx="54940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DD6EE"/>
                </a:solidFill>
                <a:latin typeface="Rajdhani" pitchFamily="34" charset="0"/>
                <a:ea typeface="Rajdhani" pitchFamily="34" charset="-122"/>
                <a:cs typeface="Rajdhani" pitchFamily="34" charset="-120"/>
              </a:rPr>
              <a:t>John Lorence B. Amarela</a:t>
            </a:r>
            <a:endParaRPr lang="en-US" sz="1500" dirty="0"/>
          </a:p>
          <a:p>
            <a:pPr algn="l" indent="0" marL="0">
              <a:lnSpc>
                <a:spcPts val="2100"/>
              </a:lnSpc>
              <a:buNone/>
            </a:pPr>
            <a:r>
              <a:rPr lang="en-US" sz="1500" dirty="0">
                <a:solidFill>
                  <a:srgbClr val="DDD6EE"/>
                </a:solidFill>
                <a:latin typeface="Rajdhani" pitchFamily="34" charset="0"/>
                <a:ea typeface="Rajdhani" pitchFamily="34" charset="-122"/>
                <a:cs typeface="Rajdhani" pitchFamily="34" charset="-120"/>
              </a:rPr>
              <a:t>Andrei H. Caldeo</a:t>
            </a:r>
            <a:endParaRPr lang="en-US" sz="1500" dirty="0"/>
          </a:p>
          <a:p>
            <a:pPr algn="l" indent="0" marL="0">
              <a:lnSpc>
                <a:spcPts val="2100"/>
              </a:lnSpc>
              <a:buNone/>
            </a:pPr>
            <a:r>
              <a:rPr lang="en-US" sz="1500" dirty="0">
                <a:solidFill>
                  <a:srgbClr val="DDD6EE"/>
                </a:solidFill>
                <a:latin typeface="Rajdhani" pitchFamily="34" charset="0"/>
                <a:ea typeface="Rajdhani" pitchFamily="34" charset="-122"/>
                <a:cs typeface="Rajdhani" pitchFamily="34" charset="-120"/>
              </a:rPr>
              <a:t>Christian B. Añez</a:t>
            </a:r>
            <a:endParaRPr lang="en-US" sz="1500" dirty="0"/>
          </a:p>
        </p:txBody>
      </p:sp>
      <p:sp>
        <p:nvSpPr>
          <p:cNvPr id="6" name="Text 4"/>
          <p:cNvSpPr/>
          <p:nvPr/>
        </p:nvSpPr>
        <p:spPr>
          <a:xfrm>
            <a:off x="812800" y="4321770"/>
            <a:ext cx="549402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9FC6"/>
                </a:solidFill>
                <a:latin typeface="Rajdhani" pitchFamily="34" charset="0"/>
                <a:ea typeface="Rajdhani" pitchFamily="34" charset="-122"/>
                <a:cs typeface="Rajdhani" pitchFamily="34" charset="-120"/>
              </a:rPr>
              <a:t>Adviser: Jonalyn Joy Labayne · Laguna State Polytechnic University, Los Baños Campus</a:t>
            </a:r>
            <a:endParaRPr lang="en-US" sz="1300" dirty="0"/>
          </a:p>
        </p:txBody>
      </p:sp>
      <p:pic>
        <p:nvPicPr>
          <p:cNvPr id="7" name="Image 0" descr="Game scene in the school lab">    </p:cNvPr>
          <p:cNvPicPr>
            <a:picLocks noChangeAspect="1"/>
          </p:cNvPicPr>
          <p:nvPr/>
        </p:nvPicPr>
        <p:blipFill>
          <a:blip r:embed="rId1"/>
          <a:srcRect l="0" r="0" t="78" b="78"/>
          <a:stretch/>
        </p:blipFill>
        <p:spPr>
          <a:xfrm>
            <a:off x="6565900" y="1879600"/>
            <a:ext cx="4800600" cy="2692400"/>
          </a:xfrm>
          <a:prstGeom prst="roundRect">
            <a:avLst>
              <a:gd name="adj" fmla="val 4245"/>
            </a:avLst>
          </a:prstGeom>
        </p:spPr>
      </p:pic>
      <p:sp>
        <p:nvSpPr>
          <p:cNvPr id="8" name="Shape 5"/>
          <p:cNvSpPr/>
          <p:nvPr/>
        </p:nvSpPr>
        <p:spPr>
          <a:xfrm>
            <a:off x="6559550" y="1873250"/>
            <a:ext cx="4813300" cy="2705100"/>
          </a:xfrm>
          <a:prstGeom prst="roundRect">
            <a:avLst>
              <a:gd name="adj" fmla="val 4460"/>
            </a:avLst>
          </a:prstGeom>
          <a:noFill/>
          <a:ln w="12700">
            <a:solidFill>
              <a:srgbClr val="4B3A78"/>
            </a:solidFill>
            <a:prstDash val="solid"/>
          </a:ln>
        </p:spPr>
      </p:sp>
      <p:sp>
        <p:nvSpPr>
          <p:cNvPr id="9"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C6"/>
                </a:solidFill>
                <a:latin typeface="Rajdhani" pitchFamily="34" charset="0"/>
                <a:ea typeface="Rajdhani" pitchFamily="34" charset="-122"/>
                <a:cs typeface="Rajdhani" pitchFamily="34" charset="-120"/>
              </a:rPr>
              <a:t>Ctrl + Think · Capstone defense</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C6"/>
                </a:solidFill>
                <a:latin typeface="Rajdhani" pitchFamily="34" charset="0"/>
                <a:ea typeface="Rajdhani" pitchFamily="34" charset="-122"/>
                <a:cs typeface="Rajdhani" pitchFamily="34" charset="-120"/>
              </a:rPr>
              <a:t>14</a:t>
            </a:r>
            <a:endParaRPr lang="en-US" sz="1200" dirty="0"/>
          </a:p>
        </p:txBody>
      </p:sp>
    </p:spTree>
  </p:cSld>
  <p:clrMapOvr>
    <a:masterClrMapping/>
  </p:clrMapOvr>
</p:sld>
</file>

<file path=ppt/theme/theme1.xml><?xml version="1.0" encoding="utf-8"?>
<a:theme xmlns:a="http://schemas.openxmlformats.org/drawingml/2006/main" name="Ctrl + Think Short Defense">
  <a:themeElements>
    <a:clrScheme name="Ctrl + Think Short Defense">
      <a:dk1>
        <a:srgbClr val="130F1F"/>
      </a:dk1>
      <a:lt1>
        <a:srgbClr val="F4EFFF"/>
      </a:lt1>
      <a:dk2>
        <a:srgbClr val="2A2535"/>
      </a:dk2>
      <a:lt2>
        <a:srgbClr val="BCB7C7"/>
      </a:lt2>
      <a:accent1>
        <a:srgbClr val="CBA6F7"/>
      </a:accent1>
      <a:accent2>
        <a:srgbClr val="A99FC6"/>
      </a:accent2>
      <a:accent3>
        <a:srgbClr val="8A63D2"/>
      </a:accent3>
      <a:accent4>
        <a:srgbClr val="6D3FC0"/>
      </a:accent4>
      <a:accent5>
        <a:srgbClr val="2A1A52"/>
      </a:accent5>
      <a:accent6>
        <a:srgbClr val="F2C179"/>
      </a:accent6>
      <a:hlink>
        <a:srgbClr val="0563C1"/>
      </a:hlink>
      <a:folHlink>
        <a:srgbClr val="954F72"/>
      </a:folHlink>
    </a:clrScheme>
    <a:fontScheme name="Ctrl + Think Short Defense">
      <a:majorFont>
        <a:latin typeface="Orbitro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ajdhan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Ctrl + Think Short Defense</dc:title>
  <dc:subject/>
  <dc:creator/>
  <cp:lastModifiedBy/>
  <cp:revision>1</cp:revision>
  <dcterms:created xsi:type="dcterms:W3CDTF">2026-10-20T14:21:16Z</dcterms:created>
  <dcterms:modified xsi:type="dcterms:W3CDTF">2026-10-20T14:21:16Z</dcterms:modified>
</cp:coreProperties>
</file>